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5" r:id="rId4"/>
  </p:sldMasterIdLst>
  <p:notesMasterIdLst>
    <p:notesMasterId r:id="rId7"/>
  </p:notesMasterIdLst>
  <p:handoutMasterIdLst>
    <p:handoutMasterId r:id="rId8"/>
  </p:handoutMasterIdLst>
  <p:sldIdLst>
    <p:sldId id="1650" r:id="rId5"/>
    <p:sldId id="1826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721"/>
    <a:srgbClr val="C32B61"/>
    <a:srgbClr val="125C99"/>
    <a:srgbClr val="EA9EB9"/>
    <a:srgbClr val="165C9A"/>
    <a:srgbClr val="34D1BF"/>
    <a:srgbClr val="B7DAF7"/>
    <a:srgbClr val="D7D6D8"/>
    <a:srgbClr val="908A97"/>
    <a:srgbClr val="9B98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399E09-BCC1-3C67-9284-0BBD98193E7C}" v="14" dt="2025-10-10T12:20:13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9B5162-31D5-D27B-CB8B-8469F66660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B8204-F427-3587-2023-45F3DF3CAD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0B005-AE3F-4DA2-9559-980D1360C114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FF136A-E7CF-98B4-480E-A32119CB16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67F81-B274-2766-0143-5AF2148974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42E51-4BA4-41E8-8E38-E80BA45B03F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558915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A0547B-158A-49BE-8714-80B0BEEFC392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1C9C6-E11A-4277-9787-7297B88DF7E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1560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3B40B-983F-620E-9CBD-074E1E0E6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FDEC67-8A8C-151F-806A-7B4E3466F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13062-51E3-389D-4710-8EB6DF0CF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58CDE-2AFF-F02B-8621-6357FA80B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1C9C6-E11A-4277-9787-7297B88DF7E0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5753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3600" spc="-50" baseline="0">
                <a:solidFill>
                  <a:srgbClr val="125C99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b="0" i="1" cap="none" spc="200" baseline="0">
                <a:solidFill>
                  <a:srgbClr val="125C99"/>
                </a:solidFill>
                <a:latin typeface="Graphik Light" panose="020B0403030202060203" pitchFamily="34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E40B5F-8E85-EEE8-22B5-A003E0B82F48}"/>
              </a:ext>
            </a:extLst>
          </p:cNvPr>
          <p:cNvSpPr/>
          <p:nvPr userDrawn="1"/>
        </p:nvSpPr>
        <p:spPr>
          <a:xfrm>
            <a:off x="0" y="6398324"/>
            <a:ext cx="12188825" cy="457200"/>
          </a:xfrm>
          <a:prstGeom prst="rect">
            <a:avLst/>
          </a:prstGeom>
          <a:gradFill>
            <a:gsLst>
              <a:gs pos="0">
                <a:srgbClr val="00A4A6"/>
              </a:gs>
              <a:gs pos="74000">
                <a:srgbClr val="125C99"/>
              </a:gs>
              <a:gs pos="83000">
                <a:srgbClr val="125C99"/>
              </a:gs>
              <a:gs pos="100000">
                <a:srgbClr val="125C99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89904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C32B61"/>
              </a:buClr>
              <a:defRPr>
                <a:latin typeface="Arial Nova" panose="020B0504020202020204" pitchFamily="34" charset="0"/>
              </a:defRPr>
            </a:lvl1pPr>
            <a:lvl2pPr>
              <a:buClr>
                <a:srgbClr val="C32B61"/>
              </a:buClr>
              <a:defRPr>
                <a:latin typeface="Arial Nova" panose="020B0504020202020204" pitchFamily="34" charset="0"/>
              </a:defRPr>
            </a:lvl2pPr>
            <a:lvl3pPr>
              <a:buClr>
                <a:srgbClr val="C32B61"/>
              </a:buClr>
              <a:defRPr>
                <a:latin typeface="Arial Nova" panose="020B0504020202020204" pitchFamily="34" charset="0"/>
              </a:defRPr>
            </a:lvl3pPr>
            <a:lvl4pPr>
              <a:buClr>
                <a:srgbClr val="C32B61"/>
              </a:buClr>
              <a:defRPr>
                <a:latin typeface="Arial Nova" panose="020B0504020202020204" pitchFamily="34" charset="0"/>
              </a:defRPr>
            </a:lvl4pPr>
            <a:lvl5pPr>
              <a:buClr>
                <a:srgbClr val="C32B61"/>
              </a:buClr>
              <a:defRPr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51C70ED-94CA-A642-FD1E-522A6990F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25C9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14EF858-2983-E647-2178-E92591E7E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483A77-9139-666A-419A-D5D0E83B9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81070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25785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D9C957-3D36-784B-CCB2-F897908B8900}"/>
              </a:ext>
            </a:extLst>
          </p:cNvPr>
          <p:cNvSpPr/>
          <p:nvPr userDrawn="1"/>
        </p:nvSpPr>
        <p:spPr>
          <a:xfrm>
            <a:off x="16" y="0"/>
            <a:ext cx="4050791" cy="6858000"/>
          </a:xfrm>
          <a:prstGeom prst="rect">
            <a:avLst/>
          </a:prstGeom>
          <a:gradFill>
            <a:gsLst>
              <a:gs pos="0">
                <a:srgbClr val="00A4A6"/>
              </a:gs>
              <a:gs pos="74000">
                <a:srgbClr val="125C99"/>
              </a:gs>
              <a:gs pos="83000">
                <a:srgbClr val="125C99"/>
              </a:gs>
              <a:gs pos="100000">
                <a:srgbClr val="125C99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7251"/>
            <a:ext cx="3200400" cy="210400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2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3324" y="417251"/>
            <a:ext cx="7448365" cy="5887954"/>
          </a:xfrm>
        </p:spPr>
        <p:txBody>
          <a:bodyPr>
            <a:normAutofit/>
          </a:bodyPr>
          <a:lstStyle>
            <a:lvl1pPr>
              <a:defRPr sz="2400">
                <a:latin typeface="Arial Nova" panose="020B0504020202020204" pitchFamily="34" charset="0"/>
              </a:defRPr>
            </a:lvl1pPr>
            <a:lvl2pPr>
              <a:defRPr sz="2000">
                <a:latin typeface="Arial Nova" panose="020B0504020202020204" pitchFamily="34" charset="0"/>
              </a:defRPr>
            </a:lvl2pPr>
            <a:lvl3pPr>
              <a:defRPr sz="1600">
                <a:latin typeface="Arial Nova" panose="020B0504020202020204" pitchFamily="34" charset="0"/>
              </a:defRPr>
            </a:lvl3pPr>
            <a:lvl4pPr>
              <a:defRPr sz="1600">
                <a:latin typeface="Arial Nova" panose="020B0504020202020204" pitchFamily="34" charset="0"/>
              </a:defRPr>
            </a:lvl4pPr>
            <a:lvl5pPr>
              <a:defRPr sz="160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Graphik Regular" panose="020B050303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15108" y="6448459"/>
            <a:ext cx="4714449" cy="376449"/>
          </a:xfrm>
        </p:spPr>
        <p:txBody>
          <a:bodyPr/>
          <a:lstStyle>
            <a:lvl1pPr algn="l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F1758FF-0BF1-4103-A89A-38EC40E8542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043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D9C957-3D36-784B-CCB2-F897908B8900}"/>
              </a:ext>
            </a:extLst>
          </p:cNvPr>
          <p:cNvSpPr/>
          <p:nvPr userDrawn="1"/>
        </p:nvSpPr>
        <p:spPr>
          <a:xfrm>
            <a:off x="16" y="0"/>
            <a:ext cx="4050791" cy="6858000"/>
          </a:xfrm>
          <a:prstGeom prst="rect">
            <a:avLst/>
          </a:prstGeom>
          <a:gradFill>
            <a:gsLst>
              <a:gs pos="0">
                <a:srgbClr val="00A4A6"/>
              </a:gs>
              <a:gs pos="74000">
                <a:srgbClr val="125C99"/>
              </a:gs>
              <a:gs pos="83000">
                <a:srgbClr val="125C99"/>
              </a:gs>
              <a:gs pos="100000">
                <a:srgbClr val="125C99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7251"/>
            <a:ext cx="3200400" cy="210400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2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3324" y="417251"/>
            <a:ext cx="7448365" cy="5887954"/>
          </a:xfrm>
        </p:spPr>
        <p:txBody>
          <a:bodyPr>
            <a:normAutofit/>
          </a:bodyPr>
          <a:lstStyle>
            <a:lvl1pPr>
              <a:defRPr sz="2400">
                <a:latin typeface="Arial Nova" panose="020B0504020202020204" pitchFamily="34" charset="0"/>
              </a:defRPr>
            </a:lvl1pPr>
            <a:lvl2pPr>
              <a:defRPr sz="2000">
                <a:latin typeface="Arial Nova" panose="020B0504020202020204" pitchFamily="34" charset="0"/>
              </a:defRPr>
            </a:lvl2pPr>
            <a:lvl3pPr>
              <a:defRPr sz="1600">
                <a:latin typeface="Arial Nova" panose="020B0504020202020204" pitchFamily="34" charset="0"/>
              </a:defRPr>
            </a:lvl3pPr>
            <a:lvl4pPr>
              <a:defRPr sz="1600">
                <a:latin typeface="Arial Nova" panose="020B0504020202020204" pitchFamily="34" charset="0"/>
              </a:defRPr>
            </a:lvl4pPr>
            <a:lvl5pPr>
              <a:defRPr sz="160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Graphik Regular" panose="020B050303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15108" y="6448459"/>
            <a:ext cx="4714449" cy="376449"/>
          </a:xfrm>
        </p:spPr>
        <p:txBody>
          <a:bodyPr/>
          <a:lstStyle>
            <a:lvl1pPr algn="l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F1758FF-0BF1-4103-A89A-38EC40E85429}" type="slidenum">
              <a:rPr lang="en-SG" smtClean="0"/>
              <a:t>‹#›</a:t>
            </a:fld>
            <a:endParaRPr lang="en-SG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DC710EE-2F6A-88D9-2835-61B2028C8D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11" y="3028685"/>
            <a:ext cx="3552917" cy="3552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242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3984" y="106532"/>
            <a:ext cx="11532093" cy="6303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3984" y="941033"/>
            <a:ext cx="11532093" cy="535071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baseline="0">
                <a:solidFill>
                  <a:schemeClr val="bg1">
                    <a:lumMod val="50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79975" y="6459784"/>
            <a:ext cx="1312025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fld id="{BF1758FF-0BF1-4103-A89A-38EC40E85429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01544A-9BB0-391C-AD93-827BB2E263E8}"/>
              </a:ext>
            </a:extLst>
          </p:cNvPr>
          <p:cNvSpPr/>
          <p:nvPr userDrawn="1"/>
        </p:nvSpPr>
        <p:spPr>
          <a:xfrm>
            <a:off x="-106787" y="0"/>
            <a:ext cx="213574" cy="736847"/>
          </a:xfrm>
          <a:prstGeom prst="rect">
            <a:avLst/>
          </a:prstGeom>
          <a:solidFill>
            <a:srgbClr val="C32B6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15078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82" r:id="rId3"/>
    <p:sldLayoutId id="2147483791" r:id="rId4"/>
    <p:sldLayoutId id="2147483790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b="1" kern="1200" spc="-50" baseline="0">
          <a:solidFill>
            <a:srgbClr val="125C99"/>
          </a:solidFill>
          <a:latin typeface="Arial Nova" panose="020B0504020202020204" pitchFamily="34" charset="0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rgbClr val="C32B61"/>
        </a:buClr>
        <a:buSzPct val="100000"/>
        <a:buFont typeface="Symbol" panose="05050102010706020507" pitchFamily="18" charset="2"/>
        <a:buChar char=""/>
        <a:defRPr sz="2400" kern="1200">
          <a:solidFill>
            <a:schemeClr val="tx1">
              <a:lumMod val="75000"/>
              <a:lumOff val="25000"/>
            </a:schemeClr>
          </a:solidFill>
          <a:latin typeface="Arial Nova" panose="020B0504020202020204" pitchFamily="34" charset="0"/>
          <a:ea typeface="+mn-ea"/>
          <a:cs typeface="+mn-cs"/>
        </a:defRPr>
      </a:lvl1pPr>
      <a:lvl2pPr marL="486918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C32B61"/>
        </a:buClr>
        <a:buFont typeface="Symbol" panose="05050102010706020507" pitchFamily="18" charset="2"/>
        <a:buChar char=""/>
        <a:defRPr sz="2000" kern="1200">
          <a:solidFill>
            <a:schemeClr val="tx1">
              <a:lumMod val="75000"/>
              <a:lumOff val="25000"/>
            </a:schemeClr>
          </a:solidFill>
          <a:latin typeface="Arial Nova" panose="020B0504020202020204" pitchFamily="34" charset="0"/>
          <a:ea typeface="+mn-ea"/>
          <a:cs typeface="+mn-cs"/>
        </a:defRPr>
      </a:lvl2pPr>
      <a:lvl3pPr marL="669798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C32B61"/>
        </a:buClr>
        <a:buFont typeface="Symbol" panose="05050102010706020507" pitchFamily="18" charset="2"/>
        <a:buChar char=""/>
        <a:defRPr sz="1600" kern="1200">
          <a:solidFill>
            <a:schemeClr val="tx1">
              <a:lumMod val="75000"/>
              <a:lumOff val="25000"/>
            </a:schemeClr>
          </a:solidFill>
          <a:latin typeface="Arial Nova" panose="020B0504020202020204" pitchFamily="34" charset="0"/>
          <a:ea typeface="+mn-ea"/>
          <a:cs typeface="+mn-cs"/>
        </a:defRPr>
      </a:lvl3pPr>
      <a:lvl4pPr marL="852678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C32B61"/>
        </a:buClr>
        <a:buFont typeface="Symbol" panose="05050102010706020507" pitchFamily="18" charset="2"/>
        <a:buChar char=""/>
        <a:defRPr sz="1600" kern="1200">
          <a:solidFill>
            <a:schemeClr val="tx1">
              <a:lumMod val="75000"/>
              <a:lumOff val="25000"/>
            </a:schemeClr>
          </a:solidFill>
          <a:latin typeface="Arial Nova" panose="020B0504020202020204" pitchFamily="34" charset="0"/>
          <a:ea typeface="+mn-ea"/>
          <a:cs typeface="+mn-cs"/>
        </a:defRPr>
      </a:lvl4pPr>
      <a:lvl5pPr marL="1035558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C32B61"/>
        </a:buClr>
        <a:buFont typeface="Symbol" panose="05050102010706020507" pitchFamily="18" charset="2"/>
        <a:buChar char=""/>
        <a:defRPr sz="1600" kern="1200">
          <a:solidFill>
            <a:schemeClr val="tx1">
              <a:lumMod val="75000"/>
              <a:lumOff val="25000"/>
            </a:schemeClr>
          </a:solidFill>
          <a:latin typeface="Arial Nova" panose="020B0504020202020204" pitchFamily="34" charset="0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mailto:ritikagarwal@iisc.ac.in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tmayank@iisc.ac.in" TargetMode="External"/><Relationship Id="rId5" Type="http://schemas.openxmlformats.org/officeDocument/2006/relationships/hyperlink" Target="mailto:himanshu5@iisc.ac.in" TargetMode="External"/><Relationship Id="rId4" Type="http://schemas.openxmlformats.org/officeDocument/2006/relationships/hyperlink" Target="mailto:sanjana2@iisc.ac.i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9D8180E-874F-C8F8-035D-91DFEC035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9CF664-F5C7-ECCF-E2AC-E4EE51E7B0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951" y="1691351"/>
            <a:ext cx="6919823" cy="2505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SG" sz="2400" b="1" dirty="0">
                <a:latin typeface="Arial Nova" panose="020B0504020202020204" pitchFamily="34" charset="0"/>
              </a:rPr>
              <a:t>DA 204o</a:t>
            </a:r>
            <a:r>
              <a:rPr lang="en-SG" sz="2400" dirty="0">
                <a:solidFill>
                  <a:srgbClr val="125C99"/>
                </a:solidFill>
                <a:latin typeface="Arial Nova" panose="020B0504020202020204" pitchFamily="34" charset="0"/>
              </a:rPr>
              <a:t>: </a:t>
            </a:r>
            <a:r>
              <a:rPr lang="en-US" sz="2400" b="1" dirty="0">
                <a:solidFill>
                  <a:srgbClr val="165C9A"/>
                </a:solidFill>
                <a:latin typeface="Arial Nova" panose="020B0504020202020204" pitchFamily="34" charset="0"/>
              </a:rPr>
              <a:t>Data Science in Practice</a:t>
            </a:r>
            <a:br>
              <a:rPr lang="en-US" sz="2400" b="1" dirty="0">
                <a:solidFill>
                  <a:srgbClr val="165C9A"/>
                </a:solidFill>
                <a:latin typeface="Arial Nova" panose="020B0504020202020204" pitchFamily="34" charset="0"/>
              </a:rPr>
            </a:br>
            <a:r>
              <a:rPr lang="en-US" sz="2400" i="1" dirty="0">
                <a:solidFill>
                  <a:srgbClr val="165C9A"/>
                </a:solidFill>
                <a:latin typeface="Arial Nova" panose="020B0504020202020204" pitchFamily="34" charset="0"/>
              </a:rPr>
              <a:t>Course Project Canvas</a:t>
            </a:r>
            <a:br>
              <a:rPr lang="en-US" sz="2400" i="1" dirty="0">
                <a:solidFill>
                  <a:srgbClr val="165C9A"/>
                </a:solidFill>
                <a:latin typeface="Arial Nova" panose="020B0504020202020204" pitchFamily="34" charset="0"/>
              </a:rPr>
            </a:br>
            <a:br>
              <a:rPr lang="en-US" sz="2400" i="1" dirty="0">
                <a:solidFill>
                  <a:srgbClr val="165C9A"/>
                </a:solidFill>
                <a:latin typeface="Arial Nova" panose="020B0504020202020204" pitchFamily="34" charset="0"/>
              </a:rPr>
            </a:b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Real Time Fake News Prediction</a:t>
            </a:r>
            <a:endParaRPr lang="en-SG" sz="2400" b="1" dirty="0">
              <a:solidFill>
                <a:schemeClr val="tx1">
                  <a:lumMod val="65000"/>
                  <a:lumOff val="35000"/>
                </a:schemeClr>
              </a:solidFill>
              <a:latin typeface="Arial Nova" panose="020B0504020202020204" pitchFamily="34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EB76576-68BF-244C-B40E-1C5A72FE35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951" y="4519118"/>
            <a:ext cx="6088443" cy="2056879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Ritik Agrawal (</a:t>
            </a:r>
            <a:r>
              <a:rPr lang="en-US" sz="18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ritikagarwal@iisc.ac.in</a:t>
            </a: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Sanjana R (</a:t>
            </a:r>
            <a:r>
              <a:rPr lang="en-US" sz="18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4"/>
              </a:rPr>
              <a:t>sanjana2@iisc.ac.in</a:t>
            </a: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Himanshu Sharma (</a:t>
            </a:r>
            <a:r>
              <a:rPr lang="en-US" sz="18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5"/>
              </a:rPr>
              <a:t>himanshu5@iisc.ac.in</a:t>
            </a:r>
            <a:r>
              <a:rPr lang="en-US" sz="1800" u="sng" dirty="0">
                <a:solidFill>
                  <a:srgbClr val="467886"/>
                </a:solidFill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Mayank Teckchandani (</a:t>
            </a:r>
            <a:r>
              <a:rPr lang="en-US" sz="18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6"/>
              </a:rPr>
              <a:t>tmayank@iisc.ac.in</a:t>
            </a: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)</a:t>
            </a:r>
            <a:endParaRPr lang="en-US" sz="2000" i="0" spc="10" dirty="0">
              <a:solidFill>
                <a:schemeClr val="tx1">
                  <a:lumMod val="75000"/>
                  <a:lumOff val="25000"/>
                </a:schemeClr>
              </a:solidFill>
              <a:latin typeface="Arial Nova" panose="020B0504020202020204" pitchFamily="34" charset="0"/>
            </a:endParaRPr>
          </a:p>
          <a:p>
            <a:pPr>
              <a:spcBef>
                <a:spcPts val="0"/>
              </a:spcBef>
            </a:pPr>
            <a:endParaRPr lang="en-SG" sz="2000" i="0" spc="10" dirty="0">
              <a:solidFill>
                <a:schemeClr val="tx1">
                  <a:lumMod val="75000"/>
                  <a:lumOff val="25000"/>
                </a:schemeClr>
              </a:solidFill>
              <a:latin typeface="Arial Nova" panose="020B0504020202020204" pitchFamily="34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853756E-9B62-A8E7-32E6-5CCF990CC3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7" t="9724" r="19603" b="12061"/>
          <a:stretch/>
        </p:blipFill>
        <p:spPr bwMode="auto">
          <a:xfrm>
            <a:off x="406952" y="191896"/>
            <a:ext cx="1732654" cy="1643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426A42-B161-DC67-A6F0-109822C7CFE9}"/>
              </a:ext>
            </a:extLst>
          </p:cNvPr>
          <p:cNvCxnSpPr>
            <a:cxnSpLocks/>
          </p:cNvCxnSpPr>
          <p:nvPr/>
        </p:nvCxnSpPr>
        <p:spPr>
          <a:xfrm>
            <a:off x="491912" y="4358839"/>
            <a:ext cx="6372000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C32B61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E4B7A1B-652F-A092-FEB5-299C9B5CA6B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7275"/>
          <a:stretch>
            <a:fillRect/>
          </a:stretch>
        </p:blipFill>
        <p:spPr>
          <a:xfrm>
            <a:off x="6568968" y="0"/>
            <a:ext cx="7465849" cy="6858000"/>
          </a:xfrm>
          <a:prstGeom prst="parallelogram">
            <a:avLst>
              <a:gd name="adj" fmla="val 24387"/>
            </a:avLst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79B460D-F3E2-25FA-CB0A-DE4E2ED15F27}"/>
              </a:ext>
            </a:extLst>
          </p:cNvPr>
          <p:cNvSpPr txBox="1">
            <a:spLocks/>
          </p:cNvSpPr>
          <p:nvPr/>
        </p:nvSpPr>
        <p:spPr>
          <a:xfrm>
            <a:off x="6674833" y="6621183"/>
            <a:ext cx="2080286" cy="20898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800">
                <a:solidFill>
                  <a:schemeClr val="bg1">
                    <a:lumMod val="75000"/>
                  </a:schemeClr>
                </a:solidFill>
              </a:rPr>
              <a:t>Image source: Internet</a:t>
            </a:r>
            <a:endParaRPr lang="en-SG" sz="80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411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CD86328-2369-3A09-9FA1-CD2F4BB020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674733"/>
              </p:ext>
            </p:extLst>
          </p:nvPr>
        </p:nvGraphicFramePr>
        <p:xfrm>
          <a:off x="80682" y="71719"/>
          <a:ext cx="12003744" cy="65442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0468">
                  <a:extLst>
                    <a:ext uri="{9D8B030D-6E8A-4147-A177-3AD203B41FA5}">
                      <a16:colId xmlns:a16="http://schemas.microsoft.com/office/drawing/2014/main" val="2372350435"/>
                    </a:ext>
                  </a:extLst>
                </a:gridCol>
                <a:gridCol w="1500468">
                  <a:extLst>
                    <a:ext uri="{9D8B030D-6E8A-4147-A177-3AD203B41FA5}">
                      <a16:colId xmlns:a16="http://schemas.microsoft.com/office/drawing/2014/main" val="862773583"/>
                    </a:ext>
                  </a:extLst>
                </a:gridCol>
                <a:gridCol w="1500468">
                  <a:extLst>
                    <a:ext uri="{9D8B030D-6E8A-4147-A177-3AD203B41FA5}">
                      <a16:colId xmlns:a16="http://schemas.microsoft.com/office/drawing/2014/main" val="915545707"/>
                    </a:ext>
                  </a:extLst>
                </a:gridCol>
                <a:gridCol w="1500468">
                  <a:extLst>
                    <a:ext uri="{9D8B030D-6E8A-4147-A177-3AD203B41FA5}">
                      <a16:colId xmlns:a16="http://schemas.microsoft.com/office/drawing/2014/main" val="2500554688"/>
                    </a:ext>
                  </a:extLst>
                </a:gridCol>
                <a:gridCol w="1500468">
                  <a:extLst>
                    <a:ext uri="{9D8B030D-6E8A-4147-A177-3AD203B41FA5}">
                      <a16:colId xmlns:a16="http://schemas.microsoft.com/office/drawing/2014/main" val="1075861341"/>
                    </a:ext>
                  </a:extLst>
                </a:gridCol>
                <a:gridCol w="1500468">
                  <a:extLst>
                    <a:ext uri="{9D8B030D-6E8A-4147-A177-3AD203B41FA5}">
                      <a16:colId xmlns:a16="http://schemas.microsoft.com/office/drawing/2014/main" val="3449983952"/>
                    </a:ext>
                  </a:extLst>
                </a:gridCol>
                <a:gridCol w="1500468">
                  <a:extLst>
                    <a:ext uri="{9D8B030D-6E8A-4147-A177-3AD203B41FA5}">
                      <a16:colId xmlns:a16="http://schemas.microsoft.com/office/drawing/2014/main" val="1697363996"/>
                    </a:ext>
                  </a:extLst>
                </a:gridCol>
                <a:gridCol w="1500468">
                  <a:extLst>
                    <a:ext uri="{9D8B030D-6E8A-4147-A177-3AD203B41FA5}">
                      <a16:colId xmlns:a16="http://schemas.microsoft.com/office/drawing/2014/main" val="2869113490"/>
                    </a:ext>
                  </a:extLst>
                </a:gridCol>
              </a:tblGrid>
              <a:tr h="294156">
                <a:tc rowSpan="2" gridSpan="3"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Data Science Canvas</a:t>
                      </a:r>
                      <a:endParaRPr lang="en-SG" sz="1000" b="1" dirty="0"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SG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SG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Project:</a:t>
                      </a:r>
                      <a:endParaRPr lang="en-SG" sz="1000" b="1"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sz="1000" b="1" dirty="0">
                          <a:latin typeface="+mn-lt"/>
                        </a:rPr>
                        <a:t>Real-Time Fake News Prediction: NLP and Model Validation </a:t>
                      </a:r>
                      <a:endParaRPr lang="en-SG" sz="1000" b="1" dirty="0"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225731"/>
                  </a:ext>
                </a:extLst>
              </a:tr>
              <a:tr h="294156">
                <a:tc gridSpan="3" vMerge="1">
                  <a:txBody>
                    <a:bodyPr/>
                    <a:lstStyle/>
                    <a:p>
                      <a:endParaRPr lang="en-SG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SG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SG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Team:</a:t>
                      </a:r>
                      <a:endParaRPr lang="en-SG" sz="1000" b="1"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sz="1000" b="1" dirty="0">
                          <a:latin typeface="+mn-lt"/>
                        </a:rPr>
                        <a:t>Ritik Agrawal, Sanjana R, Himanshu Sharma, Mayank Teckchandani </a:t>
                      </a:r>
                      <a:endParaRPr lang="en-SG" sz="1000" b="1" dirty="0"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998441"/>
                  </a:ext>
                </a:extLst>
              </a:tr>
              <a:tr h="359523"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  <a:cs typeface="Arial" panose="020B0604020202020204" pitchFamily="34" charset="0"/>
                        </a:rPr>
                        <a:t>Problem Statement</a:t>
                      </a:r>
                      <a:endParaRPr lang="en-SG" sz="10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SG" sz="1000" b="1" dirty="0">
                          <a:latin typeface="+mn-lt"/>
                          <a:cs typeface="Arial" panose="020B0604020202020204" pitchFamily="34" charset="0"/>
                        </a:rPr>
                        <a:t>Execution &amp; Evaluation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SG" sz="1000" b="1" dirty="0">
                          <a:latin typeface="+mn-lt"/>
                          <a:cs typeface="Arial" panose="020B0604020202020204" pitchFamily="34" charset="0"/>
                        </a:rPr>
                        <a:t>Data Collection &amp; Preparation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611200"/>
                  </a:ext>
                </a:extLst>
              </a:tr>
              <a:tr h="2798200">
                <a:tc>
                  <a:txBody>
                    <a:bodyPr/>
                    <a:lstStyle/>
                    <a:p>
                      <a:r>
                        <a:rPr lang="en-US" sz="1000" b="1" dirty="0">
                          <a:latin typeface="+mn-lt"/>
                          <a:cs typeface="Arial" panose="020B0604020202020204" pitchFamily="34" charset="0"/>
                        </a:rPr>
                        <a:t>Business Case &amp; Value Added</a:t>
                      </a:r>
                    </a:p>
                    <a:p>
                      <a:r>
                        <a:rPr lang="en-US" sz="1000" dirty="0">
                          <a:latin typeface="+mn-lt"/>
                        </a:rPr>
                        <a:t>The solution provides a vital service to journalists and fact-checkers by offering a </a:t>
                      </a:r>
                      <a:r>
                        <a:rPr lang="en-US" sz="1000" b="1" dirty="0">
                          <a:latin typeface="+mn-lt"/>
                        </a:rPr>
                        <a:t>validated, high-accuracy prediction model</a:t>
                      </a:r>
                      <a:r>
                        <a:rPr lang="en-US" sz="1000" dirty="0">
                          <a:latin typeface="+mn-lt"/>
                        </a:rPr>
                        <a:t> for immediate identification of misinformation, reducing public risk.</a:t>
                      </a:r>
                      <a:endParaRPr lang="en-SG" sz="10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000" b="1" dirty="0">
                          <a:latin typeface="+mn-lt"/>
                          <a:cs typeface="Arial" panose="020B0604020202020204" pitchFamily="34" charset="0"/>
                        </a:rPr>
                        <a:t>Model Selection</a:t>
                      </a:r>
                    </a:p>
                    <a:p>
                      <a:r>
                        <a:rPr lang="en-US" sz="1000" b="1" dirty="0">
                          <a:latin typeface="+mn-lt"/>
                        </a:rPr>
                        <a:t>Classical ML</a:t>
                      </a:r>
                      <a:r>
                        <a:rPr lang="en-US" sz="1000" dirty="0">
                          <a:latin typeface="+mn-lt"/>
                        </a:rPr>
                        <a:t> (Logistic Regression, SVM, Random Forest, </a:t>
                      </a:r>
                      <a:r>
                        <a:rPr lang="en-US" sz="1000" dirty="0" err="1">
                          <a:latin typeface="+mn-lt"/>
                        </a:rPr>
                        <a:t>XGBoost</a:t>
                      </a:r>
                      <a:r>
                        <a:rPr lang="en-US" sz="1000" dirty="0">
                          <a:latin typeface="+mn-lt"/>
                        </a:rPr>
                        <a:t>/</a:t>
                      </a:r>
                      <a:r>
                        <a:rPr lang="en-US" sz="1000" dirty="0" err="1">
                          <a:latin typeface="+mn-lt"/>
                        </a:rPr>
                        <a:t>LightGBM</a:t>
                      </a:r>
                      <a:r>
                        <a:rPr lang="en-US" sz="1000" dirty="0">
                          <a:latin typeface="+mn-lt"/>
                        </a:rPr>
                        <a:t>) for baselines and scalable performance. </a:t>
                      </a:r>
                      <a:r>
                        <a:rPr lang="en-US" sz="1000" b="1" dirty="0">
                          <a:latin typeface="+mn-lt"/>
                        </a:rPr>
                        <a:t>Advanced NLP models (e.g., BERT)</a:t>
                      </a:r>
                      <a:r>
                        <a:rPr lang="en-US" sz="1000" dirty="0">
                          <a:latin typeface="+mn-lt"/>
                        </a:rPr>
                        <a:t> for high accuracy and context capture.</a:t>
                      </a:r>
                      <a:endParaRPr lang="en-SG" sz="10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latin typeface="+mn-lt"/>
                          <a:cs typeface="Arial" panose="020B0604020202020204" pitchFamily="34" charset="0"/>
                        </a:rPr>
                        <a:t>Model Requirements</a:t>
                      </a:r>
                    </a:p>
                    <a:p>
                      <a:r>
                        <a:rPr lang="en-US" sz="1000" b="1" dirty="0">
                          <a:latin typeface="+mn-lt"/>
                        </a:rPr>
                        <a:t>High Accuracy</a:t>
                      </a:r>
                      <a:r>
                        <a:rPr lang="en-US" sz="1000" dirty="0">
                          <a:latin typeface="+mn-lt"/>
                        </a:rPr>
                        <a:t> (Precision and Recall). </a:t>
                      </a:r>
                      <a:r>
                        <a:rPr lang="en-US" sz="1000" b="1" dirty="0" err="1">
                          <a:latin typeface="+mn-lt"/>
                        </a:rPr>
                        <a:t>Explainability</a:t>
                      </a:r>
                      <a:r>
                        <a:rPr lang="en-US" sz="1000" dirty="0">
                          <a:latin typeface="+mn-lt"/>
                        </a:rPr>
                        <a:t> (confidence scores, suspicious keyword highlighting). Must be easily deployable for </a:t>
                      </a:r>
                      <a:r>
                        <a:rPr lang="en-US" sz="1000" b="1" dirty="0">
                          <a:latin typeface="+mn-lt"/>
                        </a:rPr>
                        <a:t>near real-time predictions.</a:t>
                      </a:r>
                      <a:endParaRPr lang="en-SG" sz="10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000" b="1" dirty="0">
                          <a:latin typeface="+mn-lt"/>
                          <a:cs typeface="Arial" panose="020B0604020202020204" pitchFamily="34" charset="0"/>
                        </a:rPr>
                        <a:t>Skills</a:t>
                      </a:r>
                    </a:p>
                    <a:p>
                      <a:r>
                        <a:rPr lang="en-US" sz="1000" b="1" dirty="0">
                          <a:latin typeface="+mn-lt"/>
                        </a:rPr>
                        <a:t>Natural Language Processing (NLP)</a:t>
                      </a:r>
                      <a:r>
                        <a:rPr lang="en-US" sz="1000" dirty="0">
                          <a:latin typeface="+mn-lt"/>
                        </a:rPr>
                        <a:t> (for BERT implementation). </a:t>
                      </a:r>
                      <a:r>
                        <a:rPr lang="en-US" sz="1000" b="1" dirty="0">
                          <a:latin typeface="+mn-lt"/>
                        </a:rPr>
                        <a:t>Machine Learning (ML)</a:t>
                      </a:r>
                      <a:r>
                        <a:rPr lang="en-US" sz="1000" dirty="0">
                          <a:latin typeface="+mn-lt"/>
                        </a:rPr>
                        <a:t> for model development and rigorous </a:t>
                      </a:r>
                      <a:r>
                        <a:rPr lang="en-US" sz="1000" b="1" dirty="0">
                          <a:latin typeface="+mn-lt"/>
                        </a:rPr>
                        <a:t>validation</a:t>
                      </a:r>
                      <a:r>
                        <a:rPr lang="en-US" sz="1000" dirty="0">
                          <a:latin typeface="+mn-lt"/>
                        </a:rPr>
                        <a:t> (cross-validation). </a:t>
                      </a:r>
                      <a:r>
                        <a:rPr lang="en-US" sz="1000" b="1" dirty="0">
                          <a:latin typeface="+mn-lt"/>
                        </a:rPr>
                        <a:t>Data Preprocessing</a:t>
                      </a:r>
                      <a:r>
                        <a:rPr lang="en-US" sz="1000" dirty="0">
                          <a:latin typeface="+mn-lt"/>
                        </a:rPr>
                        <a:t> for text data.</a:t>
                      </a:r>
                      <a:endParaRPr lang="en-SG" sz="10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000" b="1" dirty="0">
                          <a:latin typeface="+mn-lt"/>
                          <a:cs typeface="Arial" panose="020B0604020202020204" pitchFamily="34" charset="0"/>
                        </a:rPr>
                        <a:t>Model Evaluation</a:t>
                      </a:r>
                    </a:p>
                    <a:p>
                      <a:r>
                        <a:rPr lang="en-US" sz="1000" dirty="0">
                          <a:latin typeface="+mn-lt"/>
                        </a:rPr>
                        <a:t>Indicators for quality control are </a:t>
                      </a:r>
                      <a:r>
                        <a:rPr lang="en-US" sz="1000" b="1" dirty="0">
                          <a:latin typeface="+mn-lt"/>
                        </a:rPr>
                        <a:t>Precision, Recall, F1-score, and AUC-ROC</a:t>
                      </a:r>
                      <a:r>
                        <a:rPr lang="en-US" sz="1000" dirty="0">
                          <a:latin typeface="+mn-lt"/>
                        </a:rPr>
                        <a:t>. </a:t>
                      </a:r>
                      <a:r>
                        <a:rPr lang="en-US" sz="1000" b="1" dirty="0">
                          <a:latin typeface="+mn-lt"/>
                        </a:rPr>
                        <a:t>N-fold cross-validation</a:t>
                      </a:r>
                      <a:r>
                        <a:rPr lang="en-US" sz="1000" dirty="0">
                          <a:latin typeface="+mn-lt"/>
                        </a:rPr>
                        <a:t> must be used. Real-time monitoring of prediction latency (post-deployment) is necessary.</a:t>
                      </a:r>
                      <a:endParaRPr lang="en-SG" sz="10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000" b="1" dirty="0">
                          <a:latin typeface="+mn-lt"/>
                          <a:cs typeface="Arial" panose="020B0604020202020204" pitchFamily="34" charset="0"/>
                        </a:rPr>
                        <a:t>Data Storytelling</a:t>
                      </a:r>
                    </a:p>
                    <a:p>
                      <a:r>
                        <a:rPr lang="en-US" sz="1000" dirty="0">
                          <a:latin typeface="+mn-lt"/>
                        </a:rPr>
                        <a:t>Results must be communicated via a </a:t>
                      </a:r>
                      <a:r>
                        <a:rPr lang="en-US" sz="1000" b="1" dirty="0">
                          <a:latin typeface="+mn-lt"/>
                        </a:rPr>
                        <a:t>demonstrable model</a:t>
                      </a:r>
                      <a:r>
                        <a:rPr lang="en-US" sz="1000" dirty="0">
                          <a:latin typeface="+mn-lt"/>
                        </a:rPr>
                        <a:t> (e.g., via a simple web interface) and clear visualizations (Seaborn/</a:t>
                      </a:r>
                      <a:r>
                        <a:rPr lang="en-US" sz="1000" dirty="0" err="1">
                          <a:latin typeface="+mn-lt"/>
                        </a:rPr>
                        <a:t>MatPlotLib</a:t>
                      </a:r>
                      <a:r>
                        <a:rPr lang="en-US" sz="1000" dirty="0">
                          <a:latin typeface="+mn-lt"/>
                        </a:rPr>
                        <a:t>) of model performance and error types.</a:t>
                      </a:r>
                      <a:endParaRPr lang="en-SG" sz="10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latin typeface="+mn-lt"/>
                          <a:cs typeface="Arial" panose="020B0604020202020204" pitchFamily="34" charset="0"/>
                        </a:rPr>
                        <a:t>Data Selection &amp; Cleansing</a:t>
                      </a:r>
                    </a:p>
                    <a:p>
                      <a:r>
                        <a:rPr lang="en-US" sz="1000" b="1" dirty="0">
                          <a:latin typeface="+mn-lt"/>
                        </a:rPr>
                        <a:t>Relevant Data</a:t>
                      </a:r>
                      <a:r>
                        <a:rPr lang="en-US" sz="1000" dirty="0">
                          <a:latin typeface="+mn-lt"/>
                        </a:rPr>
                        <a:t>: Labeled articles (Kaggle, LIAR, COVID-19) and live stream text (APIs/RSS). </a:t>
                      </a:r>
                      <a:r>
                        <a:rPr lang="en-US" sz="1000" b="1" dirty="0">
                          <a:latin typeface="+mn-lt"/>
                        </a:rPr>
                        <a:t>Cleansing</a:t>
                      </a:r>
                      <a:r>
                        <a:rPr lang="en-US" sz="1000" dirty="0">
                          <a:latin typeface="+mn-lt"/>
                        </a:rPr>
                        <a:t>: Data requires handling </a:t>
                      </a:r>
                      <a:r>
                        <a:rPr lang="en-US" sz="1000" b="1" dirty="0">
                          <a:latin typeface="+mn-lt"/>
                        </a:rPr>
                        <a:t>missing values, duplicates, and noisy/irrelevant content</a:t>
                      </a:r>
                      <a:r>
                        <a:rPr lang="en-US" sz="1000" dirty="0">
                          <a:latin typeface="+mn-lt"/>
                        </a:rPr>
                        <a:t> (Text Quality).</a:t>
                      </a:r>
                      <a:endParaRPr lang="en-SG" sz="10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latin typeface="+mn-lt"/>
                          <a:cs typeface="Arial" panose="020B0604020202020204" pitchFamily="34" charset="0"/>
                        </a:rPr>
                        <a:t>Data Collection</a:t>
                      </a:r>
                    </a:p>
                    <a:p>
                      <a:r>
                        <a:rPr lang="en-US" sz="1000" dirty="0">
                          <a:latin typeface="+mn-lt"/>
                        </a:rPr>
                        <a:t>Data is collected from established datasets for training. Additionally required data is collected via </a:t>
                      </a:r>
                      <a:r>
                        <a:rPr lang="en-US" sz="1000" b="1" dirty="0">
                          <a:latin typeface="+mn-lt"/>
                        </a:rPr>
                        <a:t>APIs (</a:t>
                      </a:r>
                      <a:r>
                        <a:rPr lang="en-US" sz="1000" b="1" dirty="0" err="1">
                          <a:latin typeface="+mn-lt"/>
                        </a:rPr>
                        <a:t>NewsAPI</a:t>
                      </a:r>
                      <a:r>
                        <a:rPr lang="en-US" sz="1000" b="1" dirty="0">
                          <a:latin typeface="+mn-lt"/>
                        </a:rPr>
                        <a:t>, Reddit &amp; Twitter)</a:t>
                      </a:r>
                      <a:r>
                        <a:rPr lang="en-US" sz="1000" dirty="0">
                          <a:latin typeface="+mn-lt"/>
                        </a:rPr>
                        <a:t>. The data must fulfill properties of </a:t>
                      </a:r>
                      <a:r>
                        <a:rPr lang="en-US" sz="1000" b="1" dirty="0">
                          <a:latin typeface="+mn-lt"/>
                        </a:rPr>
                        <a:t>Source Diversity</a:t>
                      </a:r>
                      <a:r>
                        <a:rPr lang="en-US" sz="1000" dirty="0">
                          <a:latin typeface="+mn-lt"/>
                        </a:rPr>
                        <a:t> and good </a:t>
                      </a:r>
                      <a:r>
                        <a:rPr lang="en-US" sz="1000" b="1" dirty="0">
                          <a:latin typeface="+mn-lt"/>
                        </a:rPr>
                        <a:t>Label Quality.</a:t>
                      </a:r>
                      <a:endParaRPr lang="en-SG" sz="10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694948"/>
                  </a:ext>
                </a:extLst>
              </a:tr>
              <a:tr h="2798200">
                <a:tc>
                  <a:txBody>
                    <a:bodyPr/>
                    <a:lstStyle/>
                    <a:p>
                      <a:r>
                        <a:rPr lang="en-US" sz="1000" b="1" dirty="0">
                          <a:latin typeface="+mn-lt"/>
                          <a:cs typeface="Arial" panose="020B0604020202020204" pitchFamily="34" charset="0"/>
                        </a:rPr>
                        <a:t>Data Landscape</a:t>
                      </a:r>
                    </a:p>
                    <a:p>
                      <a:r>
                        <a:rPr lang="en-US" sz="1000" b="1" dirty="0">
                          <a:latin typeface="+mn-lt"/>
                        </a:rPr>
                        <a:t>Available</a:t>
                      </a:r>
                      <a:r>
                        <a:rPr lang="en-US" sz="1000" dirty="0">
                          <a:latin typeface="+mn-lt"/>
                        </a:rPr>
                        <a:t>: Labeled training datasets in CSV/Parquet formats. </a:t>
                      </a:r>
                      <a:r>
                        <a:rPr lang="en-US" sz="1000" b="1" dirty="0">
                          <a:latin typeface="+mn-lt"/>
                        </a:rPr>
                        <a:t>Required/To be collected</a:t>
                      </a:r>
                      <a:r>
                        <a:rPr lang="en-US" sz="1000" dirty="0">
                          <a:latin typeface="+mn-lt"/>
                        </a:rPr>
                        <a:t>: Live streaming text data from news/social media.</a:t>
                      </a:r>
                      <a:endParaRPr lang="en-US" sz="1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endParaRPr lang="en-SG" sz="10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latin typeface="+mn-lt"/>
                          <a:cs typeface="Arial" panose="020B0604020202020204" pitchFamily="34" charset="0"/>
                        </a:rPr>
                        <a:t>Software &amp; Libraries</a:t>
                      </a:r>
                    </a:p>
                    <a:p>
                      <a:r>
                        <a:rPr lang="en-US" sz="1000" b="1" dirty="0">
                          <a:latin typeface="+mn-lt"/>
                        </a:rPr>
                        <a:t>Python</a:t>
                      </a:r>
                      <a:r>
                        <a:rPr lang="en-US" sz="1000" dirty="0">
                          <a:latin typeface="+mn-lt"/>
                        </a:rPr>
                        <a:t> is the standard solution. Libraries include </a:t>
                      </a:r>
                      <a:r>
                        <a:rPr lang="en-US" sz="1000" b="1" dirty="0">
                          <a:latin typeface="+mn-lt"/>
                        </a:rPr>
                        <a:t>Scikit-learn</a:t>
                      </a:r>
                      <a:r>
                        <a:rPr lang="en-US" sz="1000" dirty="0">
                          <a:latin typeface="+mn-lt"/>
                        </a:rPr>
                        <a:t> (for classical ML), </a:t>
                      </a:r>
                      <a:r>
                        <a:rPr lang="en-US" sz="1000" b="1" dirty="0">
                          <a:latin typeface="+mn-lt"/>
                        </a:rPr>
                        <a:t>Hugging Face/</a:t>
                      </a:r>
                      <a:r>
                        <a:rPr lang="en-US" sz="1000" b="1" dirty="0" err="1">
                          <a:latin typeface="+mn-lt"/>
                        </a:rPr>
                        <a:t>PyTorch</a:t>
                      </a:r>
                      <a:r>
                        <a:rPr lang="en-US" sz="1000" b="1" dirty="0">
                          <a:latin typeface="+mn-lt"/>
                        </a:rPr>
                        <a:t>/TensorFlow</a:t>
                      </a:r>
                      <a:r>
                        <a:rPr lang="en-US" sz="1000" dirty="0">
                          <a:latin typeface="+mn-lt"/>
                        </a:rPr>
                        <a:t> (for BERT), and </a:t>
                      </a:r>
                      <a:r>
                        <a:rPr lang="en-US" sz="1000" b="1" dirty="0">
                          <a:latin typeface="+mn-lt"/>
                        </a:rPr>
                        <a:t>Seaborn/</a:t>
                      </a:r>
                      <a:r>
                        <a:rPr lang="en-US" sz="1000" b="1" dirty="0" err="1">
                          <a:latin typeface="+mn-lt"/>
                        </a:rPr>
                        <a:t>MatPlotLib</a:t>
                      </a:r>
                      <a:r>
                        <a:rPr lang="en-US" sz="1000" dirty="0">
                          <a:latin typeface="+mn-lt"/>
                        </a:rPr>
                        <a:t> for visualizations.</a:t>
                      </a:r>
                      <a:endParaRPr lang="en-SG" sz="10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SG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SG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latin typeface="+mn-lt"/>
                          <a:cs typeface="Arial" panose="020B0604020202020204" pitchFamily="34" charset="0"/>
                        </a:rPr>
                        <a:t>Data Integration</a:t>
                      </a:r>
                    </a:p>
                    <a:p>
                      <a:r>
                        <a:rPr lang="en-US" sz="1000" dirty="0">
                          <a:latin typeface="+mn-lt"/>
                        </a:rPr>
                        <a:t>Data from different sources (static files and APIs) is processed and integrated within the </a:t>
                      </a:r>
                      <a:r>
                        <a:rPr lang="en-US" sz="1000" b="1" dirty="0">
                          <a:latin typeface="+mn-lt"/>
                        </a:rPr>
                        <a:t>Python/ML environment</a:t>
                      </a:r>
                      <a:r>
                        <a:rPr lang="en-US" sz="1000" dirty="0">
                          <a:latin typeface="+mn-lt"/>
                        </a:rPr>
                        <a:t> for consistent model training and validation.</a:t>
                      </a:r>
                      <a:endParaRPr lang="en-US" sz="1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endParaRPr lang="en-SG" sz="10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latin typeface="+mn-lt"/>
                          <a:cs typeface="Arial" panose="020B0604020202020204" pitchFamily="34" charset="0"/>
                        </a:rPr>
                        <a:t>Explorative Data Analysis</a:t>
                      </a:r>
                    </a:p>
                    <a:p>
                      <a:r>
                        <a:rPr lang="en-US" sz="1000" b="1" dirty="0">
                          <a:latin typeface="+mn-lt"/>
                        </a:rPr>
                        <a:t>Outliers and Structures</a:t>
                      </a:r>
                      <a:r>
                        <a:rPr lang="en-US" sz="1000" dirty="0">
                          <a:latin typeface="+mn-lt"/>
                        </a:rPr>
                        <a:t> (e.g., text length distribution, word frequency) must be checked. </a:t>
                      </a:r>
                      <a:r>
                        <a:rPr lang="en-US" sz="1000" b="1" dirty="0">
                          <a:latin typeface="+mn-lt"/>
                        </a:rPr>
                        <a:t>Descriptive key figures</a:t>
                      </a:r>
                      <a:r>
                        <a:rPr lang="en-US" sz="1000" dirty="0">
                          <a:latin typeface="+mn-lt"/>
                        </a:rPr>
                        <a:t> must be created to assess data structures, including </a:t>
                      </a:r>
                      <a:r>
                        <a:rPr lang="en-US" sz="1000" b="1" dirty="0">
                          <a:latin typeface="+mn-lt"/>
                        </a:rPr>
                        <a:t>class imbalance</a:t>
                      </a:r>
                      <a:r>
                        <a:rPr lang="en-US" sz="1000" dirty="0">
                          <a:latin typeface="+mn-lt"/>
                        </a:rPr>
                        <a:t> (Fake vs. Real news proportion) and </a:t>
                      </a:r>
                      <a:r>
                        <a:rPr lang="en-US" sz="1000" b="1" dirty="0">
                          <a:latin typeface="+mn-lt"/>
                        </a:rPr>
                        <a:t>Text Quality.</a:t>
                      </a:r>
                      <a:endParaRPr lang="en-SG" sz="10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979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760142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F4A66993F69444994DEDC68916C527" ma:contentTypeVersion="11" ma:contentTypeDescription="Create a new document." ma:contentTypeScope="" ma:versionID="6d8c83a6efd5471423dade757e33b483">
  <xsd:schema xmlns:xsd="http://www.w3.org/2001/XMLSchema" xmlns:xs="http://www.w3.org/2001/XMLSchema" xmlns:p="http://schemas.microsoft.com/office/2006/metadata/properties" xmlns:ns2="9942508b-7edd-4522-9099-5c8ba2e58c2d" xmlns:ns3="61a53e6c-53f2-4709-838c-32a07fa7348c" targetNamespace="http://schemas.microsoft.com/office/2006/metadata/properties" ma:root="true" ma:fieldsID="d068a04341d57602b07eae7b1ca693d1" ns2:_="" ns3:_="">
    <xsd:import namespace="9942508b-7edd-4522-9099-5c8ba2e58c2d"/>
    <xsd:import namespace="61a53e6c-53f2-4709-838c-32a07fa734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42508b-7edd-4522-9099-5c8ba2e58c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eae8b99-2390-486d-8259-3a0fa512046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a53e6c-53f2-4709-838c-32a07fa7348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5216e331-96ca-4cab-bbd1-11c69f7e2d61}" ma:internalName="TaxCatchAll" ma:showField="CatchAllData" ma:web="61a53e6c-53f2-4709-838c-32a07fa734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a53e6c-53f2-4709-838c-32a07fa7348c" xsi:nil="true"/>
    <lcf76f155ced4ddcb4097134ff3c332f xmlns="9942508b-7edd-4522-9099-5c8ba2e58c2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2CA2CD0-1824-491F-9AFA-03C38DCE295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74323E-7AF1-410A-ADFC-B6F59135825E}">
  <ds:schemaRefs>
    <ds:schemaRef ds:uri="61a53e6c-53f2-4709-838c-32a07fa7348c"/>
    <ds:schemaRef ds:uri="9942508b-7edd-4522-9099-5c8ba2e58c2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D1A3A37-9007-4EC4-8746-B27BB5C6B1BE}">
  <ds:schemaRefs>
    <ds:schemaRef ds:uri="61a53e6c-53f2-4709-838c-32a07fa7348c"/>
    <ds:schemaRef ds:uri="9942508b-7edd-4522-9099-5c8ba2e58c2d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1734</TotalTime>
  <Words>526</Words>
  <Application>Microsoft Office PowerPoint</Application>
  <PresentationFormat>Widescreen</PresentationFormat>
  <Paragraphs>39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 Nova</vt:lpstr>
      <vt:lpstr>Calibri</vt:lpstr>
      <vt:lpstr>Graphik Light</vt:lpstr>
      <vt:lpstr>Graphik Regular</vt:lpstr>
      <vt:lpstr>Symbol</vt:lpstr>
      <vt:lpstr>1_Retrospect</vt:lpstr>
      <vt:lpstr>DA 204o: Data Science in Practice Course Project Canvas  Real Time Fake News Prediction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 204o: Data Science in Practice Course Project Proposal  Real Time Fake News Prediction</dc:title>
  <dc:creator>Pandarasamy Arjunan</dc:creator>
  <cp:lastModifiedBy>Mayank Teckchandani</cp:lastModifiedBy>
  <cp:revision>20</cp:revision>
  <dcterms:created xsi:type="dcterms:W3CDTF">2023-08-01T07:21:01Z</dcterms:created>
  <dcterms:modified xsi:type="dcterms:W3CDTF">2025-12-01T15:34:53Z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0x0101000CF4A66993F69444994DEDC68916C527</vt:lpwstr>
  </property>
  <property fmtid="{D5CDD505-2E9C-101B-9397-08002B2CF9AE}" pid="3" name="MediaServiceImageTags">
    <vt:lpwstr/>
  </property>
</Properties>
</file>