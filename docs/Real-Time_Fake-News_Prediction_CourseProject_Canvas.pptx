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oIjc8AaR3f4+zA8gvaY27t1ap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E3A860-72AF-46B1-8E7D-4A36FA747CBB}">
  <a:tblStyle styleId="{CFE3A860-72AF-46B1-8E7D-4A36FA747C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5C99"/>
              </a:buClr>
              <a:buSzPts val="3600"/>
              <a:buFont typeface="Arial"/>
              <a:buNone/>
              <a:defRPr sz="3600">
                <a:solidFill>
                  <a:srgbClr val="125C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b="0" i="1" sz="2400" cap="none">
                <a:solidFill>
                  <a:srgbClr val="125C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" name="Google Shape;18;p4"/>
          <p:cNvSpPr/>
          <p:nvPr/>
        </p:nvSpPr>
        <p:spPr>
          <a:xfrm>
            <a:off x="0" y="6398324"/>
            <a:ext cx="12188825" cy="4572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5C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63984" y="941033"/>
            <a:ext cx="11532093" cy="53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C32B61"/>
              </a:buClr>
              <a:buSzPts val="2400"/>
              <a:buChar char="∙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C32B61"/>
              </a:buClr>
              <a:buSzPts val="2000"/>
              <a:buChar char="∙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Char char="∙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Char char="∙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Char char="∙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5C99"/>
              </a:buClr>
              <a:buSzPts val="3200"/>
              <a:buFont typeface="Arial"/>
              <a:buNone/>
              <a:defRPr>
                <a:solidFill>
                  <a:srgbClr val="125C9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ontent with Caption" showMasterSp="0" type="objTx">
  <p:cSld name="OBJECT_WITH_CAPTIO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7"/>
          <p:cNvSpPr txBox="1"/>
          <p:nvPr>
            <p:ph type="title"/>
          </p:nvPr>
        </p:nvSpPr>
        <p:spPr>
          <a:xfrm>
            <a:off x="457200" y="417251"/>
            <a:ext cx="3200400" cy="2104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403324" y="417251"/>
            <a:ext cx="7448365" cy="5887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∙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∙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3" name="Google Shape;33;p7"/>
          <p:cNvSpPr txBox="1"/>
          <p:nvPr>
            <p:ph idx="11" type="ftr"/>
          </p:nvPr>
        </p:nvSpPr>
        <p:spPr>
          <a:xfrm>
            <a:off x="4415108" y="6448459"/>
            <a:ext cx="4714449" cy="376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ontent with Caption" showMasterSp="0">
  <p:cSld name="4_Content with Ca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gradFill>
            <a:gsLst>
              <a:gs pos="0">
                <a:srgbClr val="00A4A6"/>
              </a:gs>
              <a:gs pos="74000">
                <a:srgbClr val="125C99"/>
              </a:gs>
              <a:gs pos="83000">
                <a:srgbClr val="125C99"/>
              </a:gs>
              <a:gs pos="100000">
                <a:srgbClr val="125C99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8"/>
          <p:cNvSpPr txBox="1"/>
          <p:nvPr>
            <p:ph type="title"/>
          </p:nvPr>
        </p:nvSpPr>
        <p:spPr>
          <a:xfrm>
            <a:off x="457200" y="417251"/>
            <a:ext cx="3200400" cy="21040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b="1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" type="body"/>
          </p:nvPr>
        </p:nvSpPr>
        <p:spPr>
          <a:xfrm>
            <a:off x="4403324" y="417251"/>
            <a:ext cx="7448365" cy="58879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∙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∙"/>
              <a:defRPr sz="2000"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∙"/>
              <a:defRPr sz="160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40" name="Google Shape;40;p8"/>
          <p:cNvSpPr txBox="1"/>
          <p:nvPr>
            <p:ph idx="11" type="ftr"/>
          </p:nvPr>
        </p:nvSpPr>
        <p:spPr>
          <a:xfrm>
            <a:off x="4415108" y="6448459"/>
            <a:ext cx="4714449" cy="3764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2" name="Google Shape;42;p8"/>
          <p:cNvPicPr preferRelativeResize="0"/>
          <p:nvPr/>
        </p:nvPicPr>
        <p:blipFill rotWithShape="1">
          <a:blip r:embed="rId2">
            <a:alphaModFix amt="5000"/>
          </a:blip>
          <a:srcRect b="0" l="0" r="0" t="0"/>
          <a:stretch/>
        </p:blipFill>
        <p:spPr>
          <a:xfrm>
            <a:off x="340311" y="3028685"/>
            <a:ext cx="3552917" cy="35529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363984" y="106532"/>
            <a:ext cx="11532093" cy="6303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25C99"/>
              </a:buClr>
              <a:buSzPts val="3200"/>
              <a:buFont typeface="Arial"/>
              <a:buNone/>
              <a:defRPr b="1" i="0" sz="3200" u="none" cap="none" strike="noStrike">
                <a:solidFill>
                  <a:srgbClr val="125C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363984" y="941033"/>
            <a:ext cx="11532093" cy="5350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C32B61"/>
              </a:buClr>
              <a:buSzPts val="2400"/>
              <a:buFont typeface="Noto Sans Symbols"/>
              <a:buChar char="∙"/>
              <a:defRPr b="0" i="0" sz="24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C32B61"/>
              </a:buClr>
              <a:buSzPts val="2000"/>
              <a:buFont typeface="Noto Sans Symbols"/>
              <a:buChar char="∙"/>
              <a:defRPr b="0" i="0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Font typeface="Noto Sans Symbols"/>
              <a:buChar char="∙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Font typeface="Noto Sans Symbols"/>
              <a:buChar char="∙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C32B61"/>
              </a:buClr>
              <a:buSzPts val="1600"/>
              <a:buFont typeface="Noto Sans Symbols"/>
              <a:buChar char="∙"/>
              <a:defRPr b="0" i="0" sz="1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0879975" y="6459784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-106787" y="0"/>
            <a:ext cx="213574" cy="736847"/>
          </a:xfrm>
          <a:prstGeom prst="rect">
            <a:avLst/>
          </a:prstGeom>
          <a:solidFill>
            <a:srgbClr val="C32B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ritikagarwal@iisc.ac.in" TargetMode="External"/><Relationship Id="rId4" Type="http://schemas.openxmlformats.org/officeDocument/2006/relationships/hyperlink" Target="mailto:sanjana2@iisc.ac.in" TargetMode="External"/><Relationship Id="rId5" Type="http://schemas.openxmlformats.org/officeDocument/2006/relationships/hyperlink" Target="mailto:himanshu5@iisc.ac.in" TargetMode="External"/><Relationship Id="rId6" Type="http://schemas.openxmlformats.org/officeDocument/2006/relationships/hyperlink" Target="mailto:tmayank@iisc.ac.in" TargetMode="External"/><Relationship Id="rId7" Type="http://schemas.openxmlformats.org/officeDocument/2006/relationships/image" Target="../media/image3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"/>
          <p:cNvSpPr txBox="1"/>
          <p:nvPr>
            <p:ph type="ctrTitle"/>
          </p:nvPr>
        </p:nvSpPr>
        <p:spPr>
          <a:xfrm>
            <a:off x="406951" y="1691351"/>
            <a:ext cx="6919823" cy="250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5C99"/>
              </a:buClr>
              <a:buSzPts val="2400"/>
              <a:buFont typeface="Arial"/>
              <a:buNone/>
            </a:pPr>
            <a:r>
              <a:rPr b="1" lang="en-US" sz="2400">
                <a:latin typeface="Arial"/>
                <a:ea typeface="Arial"/>
                <a:cs typeface="Arial"/>
                <a:sym typeface="Arial"/>
              </a:rPr>
              <a:t>DA 204o</a:t>
            </a:r>
            <a:r>
              <a:rPr lang="en-US" sz="2400">
                <a:solidFill>
                  <a:srgbClr val="125C99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n-US" sz="2400">
                <a:solidFill>
                  <a:srgbClr val="165C9A"/>
                </a:solidFill>
                <a:latin typeface="Arial"/>
                <a:ea typeface="Arial"/>
                <a:cs typeface="Arial"/>
                <a:sym typeface="Arial"/>
              </a:rPr>
              <a:t>Data Science in Practice</a:t>
            </a:r>
            <a:br>
              <a:rPr b="1" lang="en-US" sz="2400">
                <a:solidFill>
                  <a:srgbClr val="165C9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2400">
                <a:solidFill>
                  <a:srgbClr val="165C9A"/>
                </a:solidFill>
                <a:latin typeface="Arial"/>
                <a:ea typeface="Arial"/>
                <a:cs typeface="Arial"/>
                <a:sym typeface="Arial"/>
              </a:rPr>
              <a:t>Course Project Canvas</a:t>
            </a:r>
            <a:br>
              <a:rPr i="1" lang="en-US" sz="2400">
                <a:solidFill>
                  <a:srgbClr val="165C9A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i="1" lang="en-US" sz="2400">
                <a:solidFill>
                  <a:srgbClr val="165C9A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2400">
                <a:solidFill>
                  <a:srgbClr val="595959"/>
                </a:solidFill>
              </a:rPr>
              <a:t>Real Time Fake News Prediction</a:t>
            </a:r>
            <a:endParaRPr b="1" sz="2400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 txBox="1"/>
          <p:nvPr>
            <p:ph idx="1" type="subTitle"/>
          </p:nvPr>
        </p:nvSpPr>
        <p:spPr>
          <a:xfrm>
            <a:off x="406951" y="4519118"/>
            <a:ext cx="6088443" cy="2056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Ritik Agrawal (</a:t>
            </a:r>
            <a:r>
              <a:rPr lang="en-US" sz="1800" u="sng">
                <a:solidFill>
                  <a:srgbClr val="467886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ritikagarwal@iisc.ac.in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Sanjana R (</a:t>
            </a:r>
            <a:r>
              <a:rPr lang="en-US" sz="1800" u="sng">
                <a:solidFill>
                  <a:srgbClr val="467886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sanjana2@iisc.ac.in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Himanshu Sharma (</a:t>
            </a:r>
            <a:r>
              <a:rPr lang="en-US" sz="1800" u="sng">
                <a:solidFill>
                  <a:srgbClr val="467886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himanshu5@iisc.ac.in</a:t>
            </a:r>
            <a:r>
              <a:rPr lang="en-US" sz="1800" u="sng">
                <a:solidFill>
                  <a:srgbClr val="467886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Mayank Teckchandani (</a:t>
            </a:r>
            <a:r>
              <a:rPr lang="en-US" sz="1800" u="sng">
                <a:solidFill>
                  <a:srgbClr val="467886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tmayank@iisc.ac.in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)</a:t>
            </a:r>
            <a:endParaRPr i="0"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i="0"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" name="Google Shape;50;p1"/>
          <p:cNvPicPr preferRelativeResize="0"/>
          <p:nvPr/>
        </p:nvPicPr>
        <p:blipFill rotWithShape="1">
          <a:blip r:embed="rId7">
            <a:alphaModFix/>
          </a:blip>
          <a:srcRect b="12061" l="22117" r="19603" t="9723"/>
          <a:stretch/>
        </p:blipFill>
        <p:spPr>
          <a:xfrm>
            <a:off x="406952" y="191896"/>
            <a:ext cx="1732654" cy="16437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" name="Google Shape;51;p1"/>
          <p:cNvCxnSpPr/>
          <p:nvPr/>
        </p:nvCxnSpPr>
        <p:spPr>
          <a:xfrm>
            <a:off x="491912" y="4358839"/>
            <a:ext cx="6372000" cy="0"/>
          </a:xfrm>
          <a:prstGeom prst="straightConnector1">
            <a:avLst/>
          </a:prstGeom>
          <a:noFill/>
          <a:ln cap="flat" cmpd="sng" w="28575">
            <a:solidFill>
              <a:srgbClr val="C32B6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" name="Google Shape;52;p1"/>
          <p:cNvPicPr preferRelativeResize="0"/>
          <p:nvPr/>
        </p:nvPicPr>
        <p:blipFill rotWithShape="1">
          <a:blip r:embed="rId8">
            <a:alphaModFix/>
          </a:blip>
          <a:srcRect b="0" l="17275" r="0" t="0"/>
          <a:stretch/>
        </p:blipFill>
        <p:spPr>
          <a:xfrm>
            <a:off x="6568968" y="0"/>
            <a:ext cx="7465849" cy="6858000"/>
          </a:xfrm>
          <a:prstGeom prst="parallelogram">
            <a:avLst>
              <a:gd fmla="val 24387" name="adj"/>
            </a:avLst>
          </a:prstGeom>
          <a:noFill/>
          <a:ln>
            <a:noFill/>
          </a:ln>
        </p:spPr>
      </p:pic>
      <p:sp>
        <p:nvSpPr>
          <p:cNvPr id="53" name="Google Shape;53;p1"/>
          <p:cNvSpPr txBox="1"/>
          <p:nvPr/>
        </p:nvSpPr>
        <p:spPr>
          <a:xfrm>
            <a:off x="6674833" y="6621183"/>
            <a:ext cx="2080286" cy="2089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Image source: Internet</a:t>
            </a:r>
            <a:endParaRPr b="0" i="0" sz="8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Google Shape;58;p2"/>
          <p:cNvGraphicFramePr/>
          <p:nvPr/>
        </p:nvGraphicFramePr>
        <p:xfrm>
          <a:off x="80682" y="717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{CFE3A860-72AF-46B1-8E7D-4A36FA747CBB}</a:tableStyleId>
              </a:tblPr>
              <a:tblGrid>
                <a:gridCol w="1500475"/>
                <a:gridCol w="1500475"/>
                <a:gridCol w="1500475"/>
                <a:gridCol w="1500475"/>
                <a:gridCol w="1500475"/>
                <a:gridCol w="1500475"/>
                <a:gridCol w="1500475"/>
                <a:gridCol w="1500475"/>
              </a:tblGrid>
              <a:tr h="294150">
                <a:tc gridSpan="3"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Science Canvas</a:t>
                      </a:r>
                      <a:endParaRPr b="1" sz="10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rowSpan="2" hMerge="1"/>
                <a:tc rowSpan="2"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Project: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Real-Time Fake News Prediction: NLP and Model Validation 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 hMerge="1"/>
                <a:tc hMerge="1"/>
              </a:tr>
              <a:tr h="294150">
                <a:tc gridSpan="3" vMerge="1"/>
                <a:tc hMerge="1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Team:</a:t>
                      </a:r>
                      <a:endParaRPr b="1" sz="10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Ritik Agrawal, Sanjana R, Himanshu Sharma, Mayank Teckchandani </a:t>
                      </a:r>
                      <a:endParaRPr b="1" sz="100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 hMerge="1"/>
                <a:tc hMerge="1"/>
                <a:tc hMerge="1"/>
              </a:tr>
              <a:tr h="3595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Problem Statement</a:t>
                      </a:r>
                      <a:endParaRPr b="1"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hMerge="1"/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Execution &amp; Evaluation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Collection &amp; Preparation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  <a:tr h="279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Business Case &amp; Value Added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solution provides a vital service to journalists and fact-checkers by offering a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validated, high-accuracy prediction model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immediate identification of misinformation, reducing public risk.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Selection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Classical ML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(Logistic Regression, XGBoost) for baselines and scalable performance.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Advanced models (e.g., </a:t>
                      </a:r>
                      <a:r>
                        <a:rPr b="1" lang="en-US" sz="1000"/>
                        <a:t>LSTM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)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high accuracy and context capture.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Requirements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 Accuracy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(Precision and Recall).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Explainability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(confidence scores, suspicious keyword highlighting). Must be easily deployable for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near real-time predictions.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Natural Language Processing (NLP)</a:t>
                      </a:r>
                      <a:r>
                        <a:rPr lang="en-US" sz="1000"/>
                        <a:t>.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Machine Learning (ML)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model development and rigorous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validation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(cross-validation).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Preprocessing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text data.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 Evaluation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Indicators for quality control are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Precision, Recall, F1-score, and AUC-ROC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N-fold cross-validation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must be used. Real-time monitoring of prediction latency (post-deployment) is necessary.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Storytelling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Results must be communicated via a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demonstrable model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(e.g., via a simple web interface) and clear visualizations (Seaborn/MatPlotLib) of model performance and error types.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Selection &amp; Cleansing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Relevant Data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Labeled articles (Kaggle, LIAR, COVID-19) and live stream text (APIs/RSS).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Cleansing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Data requires handling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values, duplicates, and noisy/irrelevant content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(Text Quality).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Collection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is collected from established datasets for training. Additionally required data is collected via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APIs (NewsAPI, Reddit &amp; Twitter)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 The data must fulfill properties of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Diversity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good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Label Quality.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798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Landscape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Available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Labeled training datasets in CSV/Parquet formats.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Required/To be collected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: Live streaming text data from news/social media.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Software &amp; Libraries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is the standard solution. Libraries include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Scikit-learn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(for classical ML),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Hugging Face/PyTorch/TensorFlow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and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Seaborn/MatPlotLib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visualizations.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vMerge="1"/>
                <a:tc vMerge="1"/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Integration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from different sources (static files and APIs) is processed and integrated within the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Python/ML environment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for consistent model training and validation.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/>
                        <a:t>Exploratory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Data Analysis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Outliers and Structures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(e.g., text length distribution, word frequency) must be checked.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Descriptive key figures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must be created to assess data structures, including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class imbalance</a:t>
                      </a:r>
                      <a:r>
                        <a:rPr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(Fake vs. Real news proportion) and </a:t>
                      </a:r>
                      <a:r>
                        <a:rPr b="1" lang="en-US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Text Quality.</a:t>
                      </a:r>
                      <a:endParaRPr sz="10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Retrospect">
  <a:themeElements>
    <a:clrScheme name="Blue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2023-08-01T07:21:01Z</dcterms:created>
  <dc:creator>Pandarasamy Arjunan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0x0101000CF4A66993F69444994DEDC68916C527</vt:lpwstr>
  </property>
  <property fmtid="{D5CDD505-2E9C-101B-9397-08002B2CF9AE}" pid="3" name="MediaServiceImageTags">
    <vt:lpwstr/>
  </property>
</Properties>
</file>