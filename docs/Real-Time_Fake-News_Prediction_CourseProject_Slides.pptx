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5" r:id="rId4"/>
  </p:sldMasterIdLst>
  <p:notesMasterIdLst>
    <p:notesMasterId r:id="rId17"/>
  </p:notesMasterIdLst>
  <p:handoutMasterIdLst>
    <p:handoutMasterId r:id="rId18"/>
  </p:handoutMasterIdLst>
  <p:sldIdLst>
    <p:sldId id="1650" r:id="rId5"/>
    <p:sldId id="1890" r:id="rId6"/>
    <p:sldId id="1854" r:id="rId7"/>
    <p:sldId id="1856" r:id="rId8"/>
    <p:sldId id="1858" r:id="rId9"/>
    <p:sldId id="1861" r:id="rId10"/>
    <p:sldId id="1868" r:id="rId11"/>
    <p:sldId id="1891" r:id="rId12"/>
    <p:sldId id="1889" r:id="rId13"/>
    <p:sldId id="1885" r:id="rId14"/>
    <p:sldId id="1874" r:id="rId15"/>
    <p:sldId id="18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21"/>
    <a:srgbClr val="C32B61"/>
    <a:srgbClr val="125C99"/>
    <a:srgbClr val="EA9EB9"/>
    <a:srgbClr val="165C9A"/>
    <a:srgbClr val="34D1BF"/>
    <a:srgbClr val="B7DAF7"/>
    <a:srgbClr val="D7D6D8"/>
    <a:srgbClr val="908A97"/>
    <a:srgbClr val="9B9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399E09-BCC1-3C67-9284-0BBD98193E7C}" v="14" dt="2025-10-10T12:20:13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781" autoAdjust="0"/>
  </p:normalViewPr>
  <p:slideViewPr>
    <p:cSldViewPr snapToGrid="0">
      <p:cViewPr varScale="1">
        <p:scale>
          <a:sx n="120" d="100"/>
          <a:sy n="120" d="100"/>
        </p:scale>
        <p:origin x="1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9B5162-31D5-D27B-CB8B-8469F66660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B8204-F427-3587-2023-45F3DF3CAD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0B005-AE3F-4DA2-9559-980D1360C114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F136A-E7CF-98B4-480E-A32119CB16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7F81-B274-2766-0143-5AF2148974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42E51-4BA4-41E8-8E38-E80BA45B03F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58915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0547B-158A-49BE-8714-80B0BEEFC392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1C9C6-E11A-4277-9787-7297B88DF7E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560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3B40B-983F-620E-9CBD-074E1E0E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DEC67-8A8C-151F-806A-7B4E3466F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13062-51E3-389D-4710-8EB6DF0CF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58CDE-2AFF-F02B-8621-6357FA80B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5753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Missing Value Analysis,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</a:rPr>
              <a:t>Checked every column for missing or incomplete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</a:rPr>
              <a:t>Found some articles had missing titles or text.</a:t>
            </a:r>
          </a:p>
          <a:p>
            <a:r>
              <a:rPr lang="en-US" sz="11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Class Distribution,</a:t>
            </a:r>
            <a:endParaRPr lang="en-US" sz="11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Counted how many fake vs real articles we had.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Checked if dataset was balanced or biased.</a:t>
            </a: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Found,</a:t>
            </a:r>
          </a:p>
          <a:p>
            <a:r>
              <a:rPr lang="en-US" sz="1100" b="1" dirty="0">
                <a:solidFill>
                  <a:srgbClr val="000080"/>
                </a:solidFill>
                <a:ea typeface="Microsoft YaHei" panose="020B0503020204020204" pitchFamily="34" charset="-122"/>
              </a:rPr>
              <a:t>	</a:t>
            </a:r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Some data cleaning would be needed, and Data has enough balance to train reliable 	models.</a:t>
            </a:r>
          </a:p>
          <a:p>
            <a:endParaRPr lang="en-US" sz="1200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r>
              <a:rPr lang="en-US" b="1" dirty="0"/>
              <a:t>Text Pattern Analysis, 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</a:rPr>
              <a:t>Do fake news articles write differently? Are they longer or shorter?</a:t>
            </a:r>
          </a:p>
          <a:p>
            <a:r>
              <a:rPr lang="en-US" sz="11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Measured Everything,</a:t>
            </a:r>
            <a:endParaRPr lang="en-US" sz="11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Title length (characters and words).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Article length (characters and words).</a:t>
            </a:r>
            <a:endParaRPr lang="en-US" sz="14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Visualization showed,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Real news: More consistent length, professional structure.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Fake news: More variable, sometimes unusually short or long.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Titles: Fake news titles often more sensational (longer/shorter extremes).</a:t>
            </a:r>
            <a:endParaRPr lang="en-US" sz="14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Found,</a:t>
            </a:r>
          </a:p>
          <a:p>
            <a:r>
              <a:rPr lang="en-US" sz="1200" dirty="0">
                <a:solidFill>
                  <a:srgbClr val="000000"/>
                </a:solidFill>
              </a:rPr>
              <a:t>	</a:t>
            </a:r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Fake news doesn't follow the same writing patterns as professional journalism!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338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Create word clouds,</a:t>
            </a:r>
            <a:endParaRPr lang="en-US" sz="105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Separate clouds for fake vs real news.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Removed common stop words.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Highlighted most frequent terms.</a:t>
            </a: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05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Visualization showed,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Real news: Professional tone, Specific names, places, dates, Balanced language.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Fake news: More capital letters, words like “Breaking”, “Shocking”, “Urgent”, Emotional and sensational language.</a:t>
            </a: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05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Found,</a:t>
            </a:r>
          </a:p>
          <a:p>
            <a:r>
              <a:rPr lang="en-US" sz="1100" dirty="0">
                <a:solidFill>
                  <a:srgbClr val="000000"/>
                </a:solidFill>
              </a:rPr>
              <a:t>	</a:t>
            </a:r>
            <a:r>
              <a:rPr lang="en-US" sz="1100" dirty="0">
                <a:solidFill>
                  <a:srgbClr val="000080"/>
                </a:solidFill>
                <a:ea typeface="Microsoft YaHei" panose="020B0503020204020204" pitchFamily="34" charset="-122"/>
              </a:rPr>
              <a:t>The language itself is a fingerprint!</a:t>
            </a:r>
          </a:p>
          <a:p>
            <a:endParaRPr lang="en-US" sz="1100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endParaRPr lang="en-US" sz="1100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r>
              <a:rPr lang="en-US" sz="1100" b="1" dirty="0">
                <a:solidFill>
                  <a:srgbClr val="000080"/>
                </a:solidFill>
                <a:ea typeface="Microsoft YaHei" panose="020B0503020204020204" pitchFamily="34" charset="-122"/>
              </a:rPr>
              <a:t>Gram Analysis,</a:t>
            </a:r>
          </a:p>
          <a:p>
            <a:r>
              <a:rPr lang="en-US" sz="1100" dirty="0">
                <a:solidFill>
                  <a:srgbClr val="000000"/>
                </a:solidFill>
              </a:rPr>
              <a:t>Single words are good, but what about phrases? Combinations might reveal more!</a:t>
            </a: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05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Unigrams (Single words),</a:t>
            </a:r>
            <a:endParaRPr lang="en-US" sz="105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Most common individual words overall</a:t>
            </a: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05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Bigrams (Two-word phrases),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Real :"according to", "officials said", "data shows"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Fake : "breaking news", "urgent update", "sources say"</a:t>
            </a:r>
          </a:p>
          <a:p>
            <a:r>
              <a:rPr lang="en-US" sz="105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Trigrams (Three-word phrases),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Real: "according to the", "research shows that"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Fake: "you won't believe", "this is shocking"</a:t>
            </a: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05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Found,</a:t>
            </a:r>
          </a:p>
          <a:p>
            <a:r>
              <a:rPr lang="en-US" sz="1100" dirty="0">
                <a:solidFill>
                  <a:srgbClr val="000000"/>
                </a:solidFill>
              </a:rPr>
              <a:t>	</a:t>
            </a:r>
            <a:r>
              <a:rPr lang="en-US" sz="1100" dirty="0">
                <a:solidFill>
                  <a:srgbClr val="000080"/>
                </a:solidFill>
                <a:ea typeface="Microsoft YaHei" panose="020B0503020204020204" pitchFamily="34" charset="-122"/>
              </a:rPr>
              <a:t>Fake news uses predictable clickbait phrases! Real news cites sources properly!</a:t>
            </a:r>
          </a:p>
          <a:p>
            <a:endParaRPr lang="en-US" sz="1100" b="1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endParaRPr lang="en-US" sz="11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3240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Sentiment Patters,</a:t>
            </a:r>
          </a:p>
          <a:p>
            <a:r>
              <a:rPr lang="en-US" sz="1200" dirty="0">
                <a:solidFill>
                  <a:srgbClr val="000000"/>
                </a:solidFill>
              </a:rPr>
              <a:t>Fake news probably plays with emotions. Let's measure sentiment!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Analyzed,</a:t>
            </a:r>
            <a:endParaRPr lang="en-US" sz="11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Sentiment Score: Positive, Negative, or Neutral.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Subjectivity: Objective facts vs subjective opinions.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Compared fake vs real news distributions.</a:t>
            </a:r>
          </a:p>
          <a:p>
            <a:endParaRPr lang="en-US" sz="1400" b="1" dirty="0">
              <a:solidFill>
                <a:srgbClr val="00008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Sentiment Patters,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Fake news: Extreme sentiments, Higher subjectivity scores.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Real news: More neutral, balanced sentiment.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Found,</a:t>
            </a:r>
          </a:p>
          <a:p>
            <a:r>
              <a:rPr lang="en-US" sz="1200" dirty="0">
                <a:solidFill>
                  <a:srgbClr val="000000"/>
                </a:solidFill>
              </a:rPr>
              <a:t>	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Fake news triggers emotions! Real news reports facts!</a:t>
            </a:r>
            <a:b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</a:br>
            <a:b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</a:br>
            <a:b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</a:br>
            <a:b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</a:br>
            <a:r>
              <a:rPr lang="en-US" sz="1200" b="1" dirty="0">
                <a:solidFill>
                  <a:srgbClr val="000080"/>
                </a:solidFill>
                <a:ea typeface="Microsoft YaHei" panose="020B0503020204020204" pitchFamily="34" charset="-122"/>
              </a:rPr>
              <a:t>EDA Completed, what we learned, </a:t>
            </a:r>
            <a:b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</a:br>
            <a:r>
              <a:rPr lang="en-US" sz="1200" dirty="0">
                <a:solidFill>
                  <a:srgbClr val="000000"/>
                </a:solidFill>
              </a:rPr>
              <a:t>Journalism has standards. Does writing complexity differ?</a:t>
            </a: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Fake News Signature Traits,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Sensational vocabulary, Extreme sentiments and Clickbait phrases.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More punctuation (!!!, ???) and Higher subjectivity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Real News Characteristics,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Professional, neutral tone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Cites sources properly and Consistent 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Balanced sentiment and Factual, objective language</a:t>
            </a:r>
          </a:p>
          <a:p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	We have clear patterns! Now let's build features and train models!</a:t>
            </a:r>
          </a:p>
          <a:p>
            <a:endParaRPr lang="en-US" sz="1200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9105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</a:rPr>
              <a:t>Models need numbers, not words. Let's translate our discoveries into features!</a:t>
            </a: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Text Statistics (15+ features),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Title length, text length, word counts, character counts, Title-to-text ratios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Emotional Indicators and Language Markers,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Sentiment scores, Subjectivity measures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Exclamation mark count (!!!), Question mark count (???), CAPS ratio (SHOUTING?), Digit counts, Special character density.</a:t>
            </a: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Advanced NLP,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TF-IDF vectors (word importance), N-gram features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	"We've armed our models with 15+ powerful features!"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38263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Logistc</a:t>
            </a:r>
            <a:r>
              <a:rPr lang="en-US" dirty="0"/>
              <a:t> Regression, </a:t>
            </a:r>
          </a:p>
          <a:p>
            <a:r>
              <a:rPr lang="en-US" sz="1200" b="1" dirty="0"/>
              <a:t>Model Type:</a:t>
            </a:r>
            <a:r>
              <a:rPr lang="en-US" sz="1200" dirty="0"/>
              <a:t> </a:t>
            </a:r>
            <a:r>
              <a:rPr lang="en-US" sz="1200" b="1" dirty="0"/>
              <a:t>Linear Model</a:t>
            </a:r>
            <a:r>
              <a:rPr lang="en-US" sz="1200" dirty="0"/>
              <a:t> based on the sigmoid function.</a:t>
            </a:r>
          </a:p>
          <a:p>
            <a:r>
              <a:rPr lang="en-US" sz="1200" b="1" dirty="0"/>
              <a:t>Goal:</a:t>
            </a:r>
            <a:r>
              <a:rPr lang="en-US" sz="1200" dirty="0"/>
              <a:t> Finds the optimal weights for the 8,000 TF-IDF features to maximize the separation between the two classes (e.g., Real vs. Fake).</a:t>
            </a:r>
          </a:p>
          <a:p>
            <a:r>
              <a:rPr lang="en-IN" sz="1200" b="1" dirty="0"/>
              <a:t>Hyperparameters:</a:t>
            </a:r>
            <a:endParaRPr lang="en-US" sz="1200" b="1" dirty="0"/>
          </a:p>
          <a:p>
            <a:r>
              <a:rPr lang="en-US" b="1" dirty="0" err="1"/>
              <a:t>max_iter</a:t>
            </a:r>
            <a:r>
              <a:rPr lang="en-US" b="1" dirty="0"/>
              <a:t>=300</a:t>
            </a:r>
            <a:r>
              <a:rPr lang="en-US" sz="1200" dirty="0"/>
              <a:t>: Ensures the solver has enough iterations to fully converge (find the optimal weights).</a:t>
            </a:r>
          </a:p>
          <a:p>
            <a:r>
              <a:rPr lang="en-US" sz="1200" dirty="0"/>
              <a:t>C=3.0: This is the inverse of the regularization strength (higher C means lower regularization). A value of 3.0 allows the model to fit the data quite closely, potentially improving accuracy, but requiring careful monitoring for overfitting.</a:t>
            </a:r>
          </a:p>
          <a:p>
            <a:r>
              <a:rPr lang="en-US" b="1" dirty="0" err="1"/>
              <a:t>n_jobs</a:t>
            </a:r>
            <a:r>
              <a:rPr lang="en-US" b="1" dirty="0"/>
              <a:t>=-1</a:t>
            </a:r>
            <a:r>
              <a:rPr lang="en-US" sz="1200" dirty="0"/>
              <a:t>: Utilizes all available CPU cores for fitting, ensuring </a:t>
            </a:r>
            <a:r>
              <a:rPr lang="en-US" sz="1200" b="1" dirty="0"/>
              <a:t>fast training time</a:t>
            </a:r>
            <a:r>
              <a:rPr lang="en-US" sz="1200" dirty="0"/>
              <a:t>.</a:t>
            </a:r>
          </a:p>
          <a:p>
            <a:endParaRPr lang="en-US" dirty="0"/>
          </a:p>
          <a:p>
            <a:r>
              <a:rPr lang="en-US" dirty="0"/>
              <a:t>XG boost,</a:t>
            </a:r>
          </a:p>
          <a:p>
            <a:r>
              <a:rPr lang="en-US" sz="12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Architecture/Hyperparameter,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</a:rPr>
              <a:t>Estimators(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n_estimators</a:t>
            </a:r>
            <a:r>
              <a:rPr lang="en-US" sz="1200" dirty="0">
                <a:solidFill>
                  <a:srgbClr val="000000"/>
                </a:solidFill>
                <a:effectLst/>
              </a:rPr>
              <a:t>):300</a:t>
            </a:r>
            <a:r>
              <a:rPr lang="en-US" sz="1200" b="0" dirty="0">
                <a:solidFill>
                  <a:srgbClr val="000000"/>
                </a:solidFill>
                <a:effectLst/>
              </a:rPr>
              <a:t> (total number of tree built)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Learning Rate:0.1(Step size for correction)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Tree Depth(</a:t>
            </a:r>
            <a:r>
              <a:rPr lang="en-US" sz="1200" dirty="0" err="1">
                <a:solidFill>
                  <a:srgbClr val="000000"/>
                </a:solidFill>
              </a:rPr>
              <a:t>max_depth</a:t>
            </a:r>
            <a:r>
              <a:rPr lang="en-US" sz="1200" dirty="0">
                <a:solidFill>
                  <a:srgbClr val="000000"/>
                </a:solidFill>
              </a:rPr>
              <a:t>): 6 (Control the complexity of individual trees)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0000"/>
                </a:solidFill>
                <a:effectLst/>
              </a:rPr>
              <a:t>Evaluation</a:t>
            </a:r>
            <a:r>
              <a:rPr lang="en-US" sz="1200" dirty="0" err="1">
                <a:solidFill>
                  <a:srgbClr val="000000"/>
                </a:solidFill>
              </a:rPr>
              <a:t>_Metric</a:t>
            </a:r>
            <a:r>
              <a:rPr lang="en-US" sz="1200" dirty="0">
                <a:solidFill>
                  <a:srgbClr val="000000"/>
                </a:solidFill>
              </a:rPr>
              <a:t>(</a:t>
            </a:r>
            <a:r>
              <a:rPr lang="en-US" sz="1200" dirty="0" err="1">
                <a:solidFill>
                  <a:srgbClr val="000000"/>
                </a:solidFill>
              </a:rPr>
              <a:t>eval_metric</a:t>
            </a:r>
            <a:r>
              <a:rPr lang="en-US" sz="1200" dirty="0">
                <a:solidFill>
                  <a:srgbClr val="000000"/>
                </a:solidFill>
              </a:rPr>
              <a:t>):</a:t>
            </a:r>
            <a:r>
              <a:rPr lang="en-US" sz="1200" dirty="0" err="1">
                <a:solidFill>
                  <a:srgbClr val="000000"/>
                </a:solidFill>
              </a:rPr>
              <a:t>logloss</a:t>
            </a:r>
            <a:r>
              <a:rPr lang="en-US" sz="1200" dirty="0">
                <a:solidFill>
                  <a:srgbClr val="000000"/>
                </a:solidFill>
              </a:rPr>
              <a:t>(monitoring training progress using logarithmic loss)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</a:rPr>
              <a:t>Row Sampling(subsample): 80% </a:t>
            </a:r>
            <a:r>
              <a:rPr lang="en-US" sz="1200" b="0" dirty="0">
                <a:solidFill>
                  <a:srgbClr val="000000"/>
                </a:solidFill>
                <a:effectLst/>
              </a:rPr>
              <a:t>of data used per tree(Prevents overfitting)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Feature Sampling(</a:t>
            </a:r>
            <a:r>
              <a:rPr lang="en-US" sz="1200" dirty="0" err="1">
                <a:solidFill>
                  <a:srgbClr val="000000"/>
                </a:solidFill>
              </a:rPr>
              <a:t>colsample_bytree</a:t>
            </a:r>
            <a:r>
              <a:rPr lang="en-US" sz="1200" dirty="0">
                <a:solidFill>
                  <a:srgbClr val="000000"/>
                </a:solidFill>
              </a:rPr>
              <a:t>):80% of features used per tree(Adds further regularization)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</a:rPr>
              <a:t>Parallel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processing:n_jobs</a:t>
            </a:r>
            <a:r>
              <a:rPr lang="en-US" sz="1200" dirty="0">
                <a:solidFill>
                  <a:srgbClr val="000000"/>
                </a:solidFill>
                <a:effectLst/>
              </a:rPr>
              <a:t> = -1</a:t>
            </a:r>
            <a:r>
              <a:rPr lang="en-US" sz="1200" b="0" dirty="0">
                <a:solidFill>
                  <a:srgbClr val="000000"/>
                </a:solidFill>
                <a:effectLst/>
              </a:rPr>
              <a:t>(Uses all CPU cores for fast training)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</a:rPr>
              <a:t>Output: Binary Prediction (Fake or Real </a:t>
            </a:r>
            <a:r>
              <a:rPr lang="en-US" sz="1200" dirty="0">
                <a:solidFill>
                  <a:srgbClr val="000000"/>
                </a:solidFill>
              </a:rPr>
              <a:t>)</a:t>
            </a:r>
          </a:p>
          <a:p>
            <a:endParaRPr lang="en-US" dirty="0"/>
          </a:p>
          <a:p>
            <a:r>
              <a:rPr lang="en-IN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models learned from </a:t>
            </a:r>
            <a:r>
              <a:rPr lang="en-IN" b="1" dirty="0" err="1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</a:t>
            </a:r>
            <a:r>
              <a:rPr lang="en-IN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Traditional ML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Fake keyword count ("breaking", "shocking", etc.)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Sentiment extremity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Exclamation marks 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Subjectivity score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Title length ratio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TF-IDF: Specific sensational words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Capitalization ratio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Question marks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Text complexity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URL presence – Moderate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LSTM,</a:t>
            </a:r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Architecture/Hyperparameter,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Embedding Layer (10,000 vocab → 64 dimensions)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Bidirectional LSTM (64 units) ← reads forward &amp; backward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Bidirectional LSTM (16 units)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Dense Layer (64 neurons, </a:t>
            </a:r>
            <a:r>
              <a:rPr lang="en-US" dirty="0" err="1">
                <a:solidFill>
                  <a:srgbClr val="000000"/>
                </a:solidFill>
              </a:rPr>
              <a:t>ReLU</a:t>
            </a:r>
            <a:r>
              <a:rPr lang="en-US" dirty="0">
                <a:solidFill>
                  <a:srgbClr val="000000"/>
                </a:solidFill>
              </a:rPr>
              <a:t> activation)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Dropout (50% - prevents overfitting)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Output (1 neuron, sigmoid) → Fake or Real?</a:t>
            </a:r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Training Process,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Batch size: 30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Optimizer: Adam (</a:t>
            </a:r>
            <a:r>
              <a:rPr lang="en-US" dirty="0" err="1">
                <a:solidFill>
                  <a:srgbClr val="000000"/>
                </a:solidFill>
              </a:rPr>
              <a:t>lr</a:t>
            </a:r>
            <a:r>
              <a:rPr lang="en-US" dirty="0">
                <a:solidFill>
                  <a:srgbClr val="000000"/>
                </a:solidFill>
              </a:rPr>
              <a:t>=0.0001)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Early stopping: Patience = 2 epochs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Max epochs: 10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b="1" dirty="0"/>
              <a:t>what model learned </a:t>
            </a:r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 Deep Learning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Learned to recognize clickbait patterns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Identified emotional trigger phrases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Understood context and nuance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Detected inconsistencies in narrative flow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6624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5369-4394-9C3C-1D7B-C4DFDB59F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F79AA-7188-45AD-31F6-EE97C97A2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ED053-75AC-2DBB-9C5D-7023CF97F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Production-Ready Fake News Detector</a:t>
            </a:r>
          </a:p>
          <a:p>
            <a:endParaRPr lang="en-US" dirty="0"/>
          </a:p>
          <a:p>
            <a:r>
              <a:rPr lang="en-US" dirty="0"/>
              <a:t>“On the Precision–Recall curve, the LSTM model starts with 100% precision, meaning its strongest predictions are extremely reliable.</a:t>
            </a:r>
            <a:br>
              <a:rPr lang="en-US" dirty="0"/>
            </a:br>
            <a:r>
              <a:rPr lang="en-US" dirty="0"/>
              <a:t>Even as we increase recall, its precision remains above 50% up to around 0.5 recall.</a:t>
            </a:r>
            <a:br>
              <a:rPr lang="en-US" dirty="0"/>
            </a:br>
            <a:r>
              <a:rPr lang="en-US" dirty="0"/>
              <a:t>Logistic Regression and </a:t>
            </a:r>
            <a:r>
              <a:rPr lang="en-US" dirty="0" err="1"/>
              <a:t>XGBoost</a:t>
            </a:r>
            <a:r>
              <a:rPr lang="en-US" dirty="0"/>
              <a:t> fluctuate heavily, but LSTM stays smooth—showing it captures deeper contextual meaning in text."</a:t>
            </a:r>
          </a:p>
          <a:p>
            <a:r>
              <a:rPr lang="en-US" dirty="0"/>
              <a:t>	</a:t>
            </a:r>
          </a:p>
          <a:p>
            <a:r>
              <a:rPr lang="en-IN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Technical Achievements: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Analysed 80000+ news articles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Performed comprehensive EDA (15+ analyses)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Engineered 15+ meaningful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Trained 3 different models with different variations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Achieved 87%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Created interpretable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Saved models for production</a:t>
            </a:r>
          </a:p>
          <a:p>
            <a:pPr lvl="1"/>
            <a:endParaRPr lang="en-IN" dirty="0"/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Knowledge Gained: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Deep understanding of fake news patterns.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Hands-on of NLP and deep learning.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Experience with transformers.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Real-world ML project completion.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“On the Precision–Recall curve, the LSTM model starts with 100% precision, meaning its strongest predictions are extremely reliable.</a:t>
            </a:r>
            <a:br>
              <a:rPr lang="en-US" dirty="0"/>
            </a:br>
            <a:r>
              <a:rPr lang="en-US" dirty="0"/>
              <a:t>Even as we increase recall, its precision remains above 50% up to around 0.5 recall.</a:t>
            </a:r>
            <a:br>
              <a:rPr lang="en-US" dirty="0"/>
            </a:br>
            <a:r>
              <a:rPr lang="en-US" dirty="0"/>
              <a:t>Logistic Regression and </a:t>
            </a:r>
            <a:r>
              <a:rPr lang="en-US" dirty="0" err="1"/>
              <a:t>XGBoost</a:t>
            </a:r>
            <a:r>
              <a:rPr lang="en-US" dirty="0"/>
              <a:t> fluctuate heavily, but LSTM stays smooth—showing it captures deeper contextual meaning in text."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8941C-4380-8972-B7AE-E4DDD3326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82909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Capabilities: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Reads any news article (title + text)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Analyzes language, sentiment, complexity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Compares against learned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Returns: "Fake" or "Real" with confidence score</a:t>
            </a:r>
          </a:p>
          <a:p>
            <a:pPr lvl="2"/>
            <a:endParaRPr lang="en-US" dirty="0"/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Reliability: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Accuracy: 87%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Catches 95% of fake news (high recall)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Only 7% false alarms (high precision)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Balanced performance across news types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Scalability:</a:t>
            </a:r>
          </a:p>
          <a:p>
            <a:r>
              <a:rPr lang="en-US" dirty="0"/>
              <a:t>	- Determine an optimized pipeline architecture through extensive benchmarking</a:t>
            </a:r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dirty="0"/>
              <a:t>	- Cut human involvement by 95% using a threshold confidence score for each inference.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04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The Problem is Real:</a:t>
            </a:r>
          </a:p>
          <a:p>
            <a:r>
              <a:rPr lang="en-US" dirty="0"/>
              <a:t>	Fake news is a serious challenge affecting millions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 Science Can Help:</a:t>
            </a:r>
          </a:p>
          <a:p>
            <a:r>
              <a:rPr lang="en-US" dirty="0"/>
              <a:t>	With right approach, AI can detect misinformation</a:t>
            </a: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 Solution Works:</a:t>
            </a:r>
          </a:p>
          <a:p>
            <a:r>
              <a:rPr lang="en-US" dirty="0"/>
              <a:t>	87%+ accuracy proves machines can be reliable fact-checkers</a:t>
            </a:r>
            <a:endParaRPr lang="en-IN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We're ready to discuss:</a:t>
            </a:r>
          </a:p>
          <a:p>
            <a:pPr lvl="1"/>
            <a:r>
              <a:rPr lang="en-US" dirty="0"/>
              <a:t>- Technical details of any model</a:t>
            </a:r>
          </a:p>
          <a:p>
            <a:pPr lvl="1"/>
            <a:r>
              <a:rPr lang="en-US" dirty="0"/>
              <a:t>- Deployment strategies</a:t>
            </a:r>
          </a:p>
          <a:p>
            <a:pPr lvl="1"/>
            <a:r>
              <a:rPr lang="en-US" dirty="0"/>
              <a:t>- Future collaborations</a:t>
            </a:r>
          </a:p>
          <a:p>
            <a:pPr lvl="1"/>
            <a:r>
              <a:rPr lang="en-US" dirty="0"/>
              <a:t>- Your ideas and suggestions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0464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3600" spc="-50" baseline="0">
                <a:solidFill>
                  <a:srgbClr val="125C99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b="0" i="1" cap="none" spc="200" baseline="0">
                <a:solidFill>
                  <a:srgbClr val="125C99"/>
                </a:solidFill>
                <a:latin typeface="Graphik Light" panose="020B0403030202060203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E40B5F-8E85-EEE8-22B5-A003E0B82F48}"/>
              </a:ext>
            </a:extLst>
          </p:cNvPr>
          <p:cNvSpPr/>
          <p:nvPr userDrawn="1"/>
        </p:nvSpPr>
        <p:spPr>
          <a:xfrm>
            <a:off x="0" y="6398324"/>
            <a:ext cx="12188825" cy="4572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90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32B61"/>
              </a:buClr>
              <a:defRPr>
                <a:latin typeface="Arial Nova" panose="020B0504020202020204" pitchFamily="34" charset="0"/>
              </a:defRPr>
            </a:lvl1pPr>
            <a:lvl2pPr>
              <a:buClr>
                <a:srgbClr val="C32B61"/>
              </a:buClr>
              <a:defRPr>
                <a:latin typeface="Arial Nova" panose="020B0504020202020204" pitchFamily="34" charset="0"/>
              </a:defRPr>
            </a:lvl2pPr>
            <a:lvl3pPr>
              <a:buClr>
                <a:srgbClr val="C32B61"/>
              </a:buClr>
              <a:defRPr>
                <a:latin typeface="Arial Nova" panose="020B0504020202020204" pitchFamily="34" charset="0"/>
              </a:defRPr>
            </a:lvl3pPr>
            <a:lvl4pPr>
              <a:buClr>
                <a:srgbClr val="C32B61"/>
              </a:buClr>
              <a:defRPr>
                <a:latin typeface="Arial Nova" panose="020B0504020202020204" pitchFamily="34" charset="0"/>
              </a:defRPr>
            </a:lvl4pPr>
            <a:lvl5pPr>
              <a:buClr>
                <a:srgbClr val="C32B61"/>
              </a:buCl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51C70ED-94CA-A642-FD1E-522A6990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25C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4EF858-2983-E647-2178-E92591E7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483A77-9139-666A-419A-D5D0E83B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1070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578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D9C957-3D36-784B-CCB2-F897908B8900}"/>
              </a:ext>
            </a:extLst>
          </p:cNvPr>
          <p:cNvSpPr/>
          <p:nvPr userDrawn="1"/>
        </p:nvSpPr>
        <p:spPr>
          <a:xfrm>
            <a:off x="16" y="0"/>
            <a:ext cx="4050791" cy="68580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7251"/>
            <a:ext cx="3200400" cy="210400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3324" y="417251"/>
            <a:ext cx="7448365" cy="5887954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6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15108" y="6448459"/>
            <a:ext cx="4714449" cy="376449"/>
          </a:xfr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43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D9C957-3D36-784B-CCB2-F897908B8900}"/>
              </a:ext>
            </a:extLst>
          </p:cNvPr>
          <p:cNvSpPr/>
          <p:nvPr userDrawn="1"/>
        </p:nvSpPr>
        <p:spPr>
          <a:xfrm>
            <a:off x="16" y="0"/>
            <a:ext cx="4050791" cy="68580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7251"/>
            <a:ext cx="3200400" cy="210400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3324" y="417251"/>
            <a:ext cx="7448365" cy="5887954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6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15108" y="6448459"/>
            <a:ext cx="4714449" cy="376449"/>
          </a:xfr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C710EE-2F6A-88D9-2835-61B2028C8D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11" y="3028685"/>
            <a:ext cx="3552917" cy="3552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24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984" y="106532"/>
            <a:ext cx="11532093" cy="6303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984" y="941033"/>
            <a:ext cx="11532093" cy="535071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bg1">
                    <a:lumMod val="50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79975" y="6459784"/>
            <a:ext cx="1312025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BF1758FF-0BF1-4103-A89A-38EC40E85429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01544A-9BB0-391C-AD93-827BB2E263E8}"/>
              </a:ext>
            </a:extLst>
          </p:cNvPr>
          <p:cNvSpPr/>
          <p:nvPr userDrawn="1"/>
        </p:nvSpPr>
        <p:spPr>
          <a:xfrm>
            <a:off x="-106787" y="0"/>
            <a:ext cx="213574" cy="736847"/>
          </a:xfrm>
          <a:prstGeom prst="rect">
            <a:avLst/>
          </a:prstGeom>
          <a:solidFill>
            <a:srgbClr val="C32B6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507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82" r:id="rId3"/>
    <p:sldLayoutId id="2147483791" r:id="rId4"/>
    <p:sldLayoutId id="2147483790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200" spc="-50" baseline="0">
          <a:solidFill>
            <a:srgbClr val="125C99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rgbClr val="C32B61"/>
        </a:buClr>
        <a:buSzPct val="100000"/>
        <a:buFont typeface="Symbol" panose="05050102010706020507" pitchFamily="18" charset="2"/>
        <a:buChar char=""/>
        <a:defRPr sz="24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1pPr>
      <a:lvl2pPr marL="48691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20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2pPr>
      <a:lvl3pPr marL="66979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16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3pPr>
      <a:lvl4pPr marL="85267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16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4pPr>
      <a:lvl5pPr marL="103555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16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ritikagarwal@iisc.ac.in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tmayank@iisc.ac.in" TargetMode="External"/><Relationship Id="rId5" Type="http://schemas.openxmlformats.org/officeDocument/2006/relationships/hyperlink" Target="mailto:himanshu5@iisc.ac.in" TargetMode="External"/><Relationship Id="rId4" Type="http://schemas.openxmlformats.org/officeDocument/2006/relationships/hyperlink" Target="mailto:sanjana2@iisc.ac.i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D8180E-874F-C8F8-035D-91DFEC03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9CF664-F5C7-ECCF-E2AC-E4EE51E7B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951" y="1691351"/>
            <a:ext cx="6919823" cy="250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SG" sz="2400" b="1" dirty="0">
                <a:latin typeface="Arial Nova" panose="020B0504020202020204" pitchFamily="34" charset="0"/>
              </a:rPr>
              <a:t>DA 204o</a:t>
            </a:r>
            <a:r>
              <a:rPr lang="en-SG" sz="2400" dirty="0">
                <a:solidFill>
                  <a:srgbClr val="125C99"/>
                </a:solidFill>
                <a:latin typeface="Arial Nova" panose="020B0504020202020204" pitchFamily="34" charset="0"/>
              </a:rPr>
              <a:t>: </a:t>
            </a:r>
            <a:r>
              <a:rPr lang="en-US" sz="2400" b="1" dirty="0">
                <a:solidFill>
                  <a:srgbClr val="165C9A"/>
                </a:solidFill>
                <a:latin typeface="Arial Nova" panose="020B0504020202020204" pitchFamily="34" charset="0"/>
              </a:rPr>
              <a:t>Data Science in Practice</a:t>
            </a:r>
            <a:br>
              <a:rPr lang="en-US" sz="2400" b="1" dirty="0">
                <a:solidFill>
                  <a:srgbClr val="165C9A"/>
                </a:solidFill>
                <a:latin typeface="Arial Nova" panose="020B0504020202020204" pitchFamily="34" charset="0"/>
              </a:rPr>
            </a:br>
            <a:r>
              <a:rPr lang="en-US" sz="2400" i="1" dirty="0">
                <a:solidFill>
                  <a:srgbClr val="165C9A"/>
                </a:solidFill>
                <a:latin typeface="Arial Nova" panose="020B0504020202020204" pitchFamily="34" charset="0"/>
              </a:rPr>
              <a:t>Course Project</a:t>
            </a:r>
            <a:br>
              <a:rPr lang="en-US" sz="2400" i="1" dirty="0">
                <a:solidFill>
                  <a:srgbClr val="165C9A"/>
                </a:solidFill>
                <a:latin typeface="Arial Nova" panose="020B0504020202020204" pitchFamily="34" charset="0"/>
              </a:rPr>
            </a:br>
            <a:br>
              <a:rPr lang="en-US" sz="2400" i="1" dirty="0">
                <a:solidFill>
                  <a:srgbClr val="165C9A"/>
                </a:solidFill>
                <a:latin typeface="Arial Nova" panose="020B0504020202020204" pitchFamily="34" charset="0"/>
              </a:rPr>
            </a:b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 Time Fake News Prediction</a:t>
            </a:r>
            <a:endParaRPr lang="en-SG" sz="2400" b="1" dirty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EB76576-68BF-244C-B40E-1C5A72FE3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951" y="4519118"/>
            <a:ext cx="6088443" cy="205687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Ritik Agrawal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ritikagarwal@iisc.ac.in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Sanjana R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sanjana2@iisc.ac.in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Himanshu Sharma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himanshu5@iisc.ac.in</a:t>
            </a:r>
            <a:r>
              <a:rPr lang="en-US" sz="1800" u="sng" dirty="0">
                <a:solidFill>
                  <a:srgbClr val="467886"/>
                </a:solidFill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Mayank Teckchandani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tmayank@iisc.ac.in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)</a:t>
            </a:r>
            <a:endParaRPr lang="en-US" sz="2000" i="0" spc="10" dirty="0">
              <a:solidFill>
                <a:schemeClr val="tx1">
                  <a:lumMod val="75000"/>
                  <a:lumOff val="25000"/>
                </a:schemeClr>
              </a:solidFill>
              <a:latin typeface="Arial Nova" panose="020B0504020202020204" pitchFamily="34" charset="0"/>
            </a:endParaRPr>
          </a:p>
          <a:p>
            <a:pPr>
              <a:spcBef>
                <a:spcPts val="0"/>
              </a:spcBef>
            </a:pPr>
            <a:endParaRPr lang="en-SG" sz="2000" i="0" spc="10" dirty="0">
              <a:solidFill>
                <a:schemeClr val="tx1">
                  <a:lumMod val="75000"/>
                  <a:lumOff val="25000"/>
                </a:schemeClr>
              </a:solidFill>
              <a:latin typeface="Arial Nova" panose="020B0504020202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853756E-9B62-A8E7-32E6-5CCF990CC3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7" t="9724" r="19603" b="12061"/>
          <a:stretch/>
        </p:blipFill>
        <p:spPr bwMode="auto">
          <a:xfrm>
            <a:off x="406952" y="191896"/>
            <a:ext cx="1732654" cy="1643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426A42-B161-DC67-A6F0-109822C7CFE9}"/>
              </a:ext>
            </a:extLst>
          </p:cNvPr>
          <p:cNvCxnSpPr>
            <a:cxnSpLocks/>
          </p:cNvCxnSpPr>
          <p:nvPr/>
        </p:nvCxnSpPr>
        <p:spPr>
          <a:xfrm>
            <a:off x="491912" y="4358839"/>
            <a:ext cx="637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C32B61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E4B7A1B-652F-A092-FEB5-299C9B5CA6B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7275"/>
          <a:stretch>
            <a:fillRect/>
          </a:stretch>
        </p:blipFill>
        <p:spPr>
          <a:xfrm>
            <a:off x="6568968" y="0"/>
            <a:ext cx="7465849" cy="6858000"/>
          </a:xfrm>
          <a:prstGeom prst="parallelogram">
            <a:avLst>
              <a:gd name="adj" fmla="val 24387"/>
            </a:avLst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79B460D-F3E2-25FA-CB0A-DE4E2ED15F27}"/>
              </a:ext>
            </a:extLst>
          </p:cNvPr>
          <p:cNvSpPr txBox="1">
            <a:spLocks/>
          </p:cNvSpPr>
          <p:nvPr/>
        </p:nvSpPr>
        <p:spPr>
          <a:xfrm>
            <a:off x="6674833" y="6621183"/>
            <a:ext cx="2080286" cy="20898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800">
                <a:solidFill>
                  <a:schemeClr val="bg1">
                    <a:lumMod val="75000"/>
                  </a:schemeClr>
                </a:solidFill>
              </a:rPr>
              <a:t>Image source: Internet</a:t>
            </a:r>
            <a:endParaRPr lang="en-SG" sz="8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41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DBE6-B978-C0FA-C3FC-01DBA6F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Journey Begins : Collecting and Understanding the Data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ABA8-9F17-78D6-A0F5-B75F0BC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A2A2-5A05-CE3C-2B17-97AEBF2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2</a:t>
            </a:fld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9C6E7-1BBD-F71B-26CA-67EDF528A2B5}"/>
              </a:ext>
            </a:extLst>
          </p:cNvPr>
          <p:cNvSpPr txBox="1"/>
          <p:nvPr/>
        </p:nvSpPr>
        <p:spPr>
          <a:xfrm>
            <a:off x="363984" y="979714"/>
            <a:ext cx="1124329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000000"/>
                </a:solidFill>
                <a:effectLst/>
              </a:rPr>
              <a:t>In today's digital age, we're drowning in information. But how much of it is true?</a:t>
            </a:r>
          </a:p>
          <a:p>
            <a:endParaRPr lang="en-US" sz="2800" b="0" dirty="0">
              <a:solidFill>
                <a:srgbClr val="000000"/>
              </a:solidFill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Social media spreads news at lightning speed.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Misinformation spreads faster than truth.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People can’t deal with 1000s of articles being generated every day.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Can machines help us detect fake news automatically?</a:t>
            </a:r>
          </a:p>
          <a:p>
            <a:endParaRPr lang="en-US" sz="2400" b="1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r>
              <a:rPr lang="en-US" sz="18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Did,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Loaded a dataset of thousands of news articles (both fake and real).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Each article had a title, text content, and a label (Fake, Real).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18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First Impressions,</a:t>
            </a:r>
            <a:endParaRPr lang="en-US" sz="18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Dataset contained a mix of political, social, and general news.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Articles varied greatly in length and writing style.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We had both titles and full article text to work with.</a:t>
            </a:r>
          </a:p>
          <a:p>
            <a:endParaRPr lang="en-US" sz="2400" b="1" dirty="0">
              <a:solidFill>
                <a:srgbClr val="000080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857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DBE6-B978-C0FA-C3FC-01DBA6F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Detective Work : EDA Begins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ABA8-9F17-78D6-A0F5-B75F0BC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A2A2-5A05-CE3C-2B17-97AEBF2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3</a:t>
            </a:fld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9C6E7-1BBD-F71B-26CA-67EDF528A2B5}"/>
              </a:ext>
            </a:extLst>
          </p:cNvPr>
          <p:cNvSpPr txBox="1"/>
          <p:nvPr/>
        </p:nvSpPr>
        <p:spPr>
          <a:xfrm>
            <a:off x="363984" y="979714"/>
            <a:ext cx="1124329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721"/>
                </a:solidFill>
                <a:effectLst/>
              </a:rPr>
              <a:t>We Started With Data Quality Check,</a:t>
            </a:r>
          </a:p>
          <a:p>
            <a:endParaRPr lang="en-US" sz="28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Missing Value Analysis,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Checked every column for missing or incomplete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Found some articles had missing titles or text.</a:t>
            </a:r>
          </a:p>
          <a:p>
            <a:endParaRPr lang="en-US" sz="2800" dirty="0">
              <a:solidFill>
                <a:srgbClr val="000000"/>
              </a:solidFill>
            </a:endParaRPr>
          </a:p>
          <a:p>
            <a:r>
              <a:rPr lang="en-US" sz="24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Measured Everything,</a:t>
            </a:r>
            <a:endParaRPr lang="en-US" sz="24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Title length (characters and words).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Article length (characters and words).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A415C-FC75-D88C-8CC2-D39DC9BAB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365" y="173771"/>
            <a:ext cx="3917398" cy="3201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932554-0F36-E586-8E12-3CE43A06D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834" y="3170622"/>
            <a:ext cx="458160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5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DBE6-B978-C0FA-C3FC-01DBA6F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Language Clue : Word Clouds and Frequency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ABA8-9F17-78D6-A0F5-B75F0BC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A2A2-5A05-CE3C-2B17-97AEBF2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4</a:t>
            </a:fld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9C6E7-1BBD-F71B-26CA-67EDF528A2B5}"/>
              </a:ext>
            </a:extLst>
          </p:cNvPr>
          <p:cNvSpPr txBox="1"/>
          <p:nvPr/>
        </p:nvSpPr>
        <p:spPr>
          <a:xfrm>
            <a:off x="363984" y="979714"/>
            <a:ext cx="112432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000000"/>
                </a:solidFill>
                <a:effectLst/>
              </a:rPr>
              <a:t>What words do fake news use? Are there signature phrases?</a:t>
            </a:r>
          </a:p>
          <a:p>
            <a:endParaRPr lang="en-US" sz="28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Generated word clouds,</a:t>
            </a:r>
            <a:endParaRPr lang="en-US" sz="20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Separate clouds for fake vs real news.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Removed common stop words.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Highlighted most frequent terms.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Performed N gram Analysis clouds,</a:t>
            </a:r>
            <a:endParaRPr lang="en-US" sz="20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Unigrams ,N-grams, Bigrams</a:t>
            </a:r>
          </a:p>
          <a:p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EBB3E-ADB4-5130-3293-E9C30459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18" y="4456365"/>
            <a:ext cx="2586687" cy="1833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7E3DAB-D3B2-8E25-E3A7-C06F9C865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139" y="4456365"/>
            <a:ext cx="2586688" cy="1839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D1366F-6EA4-97AF-3E6D-504D905F7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039" y="1363897"/>
            <a:ext cx="4457700" cy="509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7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DBE6-B978-C0FA-C3FC-01DBA6F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Emotion Factor : Sentiment Analysis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ABA8-9F17-78D6-A0F5-B75F0BC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A2A2-5A05-CE3C-2B17-97AEBF2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5</a:t>
            </a:fld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9C6E7-1BBD-F71B-26CA-67EDF528A2B5}"/>
              </a:ext>
            </a:extLst>
          </p:cNvPr>
          <p:cNvSpPr txBox="1"/>
          <p:nvPr/>
        </p:nvSpPr>
        <p:spPr>
          <a:xfrm>
            <a:off x="363984" y="979714"/>
            <a:ext cx="1124329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Fake news probably plays with emotions. Let's measure sentiment!</a:t>
            </a:r>
          </a:p>
          <a:p>
            <a:endParaRPr lang="en-US" sz="28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Analyzed,</a:t>
            </a:r>
            <a:endParaRPr lang="en-US" sz="20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Sentiment Score: Positive,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Negative, or Neutral.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Subjectivity: Objective facts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vs subjective opinions.</a:t>
            </a:r>
            <a:endParaRPr lang="en-US" sz="2400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endParaRPr lang="en-US" sz="2400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r>
              <a:rPr lang="en-US" sz="20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Fake News Signature Traits,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Sensational vocabulary, Extreme sentiments and Clickbait phrases.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More punctuation (!!!, ???)</a:t>
            </a:r>
          </a:p>
          <a:p>
            <a:r>
              <a:rPr lang="en-US" sz="2400" dirty="0">
                <a:solidFill>
                  <a:srgbClr val="000000"/>
                </a:solidFill>
              </a:rPr>
              <a:t>and Higher subjectivity</a:t>
            </a:r>
          </a:p>
          <a:p>
            <a:endParaRPr lang="en-US" sz="2400" dirty="0">
              <a:solidFill>
                <a:srgbClr val="000080"/>
              </a:solidFill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D69F5-F397-775E-E8E9-44BFC9607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601" y="1755277"/>
            <a:ext cx="6808542" cy="454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77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DBE6-B978-C0FA-C3FC-01DBA6F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Ready : Building Intelligence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ABA8-9F17-78D6-A0F5-B75F0BC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A2A2-5A05-CE3C-2B17-97AEBF2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6</a:t>
            </a:fld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9C6E7-1BBD-F71B-26CA-67EDF528A2B5}"/>
              </a:ext>
            </a:extLst>
          </p:cNvPr>
          <p:cNvSpPr txBox="1"/>
          <p:nvPr/>
        </p:nvSpPr>
        <p:spPr>
          <a:xfrm>
            <a:off x="363984" y="951722"/>
            <a:ext cx="1124329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Combined title + text into one field, Lowercased everything and Removed extra spaces and Fixed encoding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Removed URLs (http://, www.) and special characters (@#$%^&amp;*).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Ensured only 0 (fake) and 1 (real) labels, Removed any invalid entries and Verified data integrity.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80% for training (teaching the model), 20% for testing (evaluating performance) and Stratified split (balanced classes)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Vocabulary: Top 10,000 most common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Sequence length: 256 tokens max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Added padding for uniform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Title length, text length, word counts, character counts, Title-to-text ratios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Sentiment scores, Subjectivity measures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Exclamation mark count (!!!), Question mark count (???), CAPS ratio (SHOUTING?), Digit counts, Special character density.</a:t>
            </a:r>
            <a:endParaRPr lang="en-US" sz="20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TF-IDF vectors (word importance), N-gram feature.</a:t>
            </a:r>
          </a:p>
          <a:p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20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F151-6D5B-E79C-744B-C5A834F1E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B01B1-6A36-A176-7022-61CAD8FE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Attempt : Using Logistic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78083-DF24-3C01-BD0E-3DF3E652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7</a:t>
            </a:fld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A1724-AFB3-19F2-8747-87A875FACFCA}"/>
              </a:ext>
            </a:extLst>
          </p:cNvPr>
          <p:cNvSpPr txBox="1"/>
          <p:nvPr/>
        </p:nvSpPr>
        <p:spPr>
          <a:xfrm>
            <a:off x="363984" y="951722"/>
            <a:ext cx="112432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 Line: Logistic Regression</a:t>
            </a:r>
          </a:p>
          <a:p>
            <a:endParaRPr lang="en-US" sz="18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Accuracy : 8</a:t>
            </a:r>
            <a:r>
              <a:rPr lang="en-US" dirty="0">
                <a:solidFill>
                  <a:srgbClr val="000000"/>
                </a:solidFill>
              </a:rPr>
              <a:t>0</a:t>
            </a:r>
            <a:r>
              <a:rPr lang="en-US" sz="1800" dirty="0">
                <a:solidFill>
                  <a:srgbClr val="000000"/>
                </a:solidFill>
              </a:rPr>
              <a:t>.44%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ROC AUC : 0.88    </a:t>
            </a: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18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21A010-BCE6-2EE3-EB28-135946A710FD}"/>
              </a:ext>
            </a:extLst>
          </p:cNvPr>
          <p:cNvGraphicFramePr>
            <a:graphicFrameLocks noGrp="1"/>
          </p:cNvGraphicFramePr>
          <p:nvPr/>
        </p:nvGraphicFramePr>
        <p:xfrm>
          <a:off x="5095112" y="1383285"/>
          <a:ext cx="5991225" cy="1150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245">
                  <a:extLst>
                    <a:ext uri="{9D8B030D-6E8A-4147-A177-3AD203B41FA5}">
                      <a16:colId xmlns:a16="http://schemas.microsoft.com/office/drawing/2014/main" val="1824103824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181989826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1472622155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4032482017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481797693"/>
                    </a:ext>
                  </a:extLst>
                </a:gridCol>
              </a:tblGrid>
              <a:tr h="41888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819584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Fake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8066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90486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Real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7827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9240"/>
                  </a:ext>
                </a:extLst>
              </a:tr>
            </a:tbl>
          </a:graphicData>
        </a:graphic>
      </p:graphicFrame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09CD301-F4B7-31DC-A2FA-D4E0ACAA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7929AA-39F6-74C9-0F2D-3D347DE9F8DF}"/>
              </a:ext>
            </a:extLst>
          </p:cNvPr>
          <p:cNvSpPr txBox="1"/>
          <p:nvPr/>
        </p:nvSpPr>
        <p:spPr>
          <a:xfrm>
            <a:off x="363984" y="2706048"/>
            <a:ext cx="112432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XGBoost</a:t>
            </a:r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Accuracy : 85.14%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ROC AUC : 0.93      </a:t>
            </a: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18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18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D3BC1F-6944-4626-C0E7-2406C119C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970716"/>
              </p:ext>
            </p:extLst>
          </p:nvPr>
        </p:nvGraphicFramePr>
        <p:xfrm>
          <a:off x="5095111" y="3140462"/>
          <a:ext cx="5991225" cy="1150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245">
                  <a:extLst>
                    <a:ext uri="{9D8B030D-6E8A-4147-A177-3AD203B41FA5}">
                      <a16:colId xmlns:a16="http://schemas.microsoft.com/office/drawing/2014/main" val="1824103824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181989826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1472622155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4032482017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481797693"/>
                    </a:ext>
                  </a:extLst>
                </a:gridCol>
              </a:tblGrid>
              <a:tr h="41888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819584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Fake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0.843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8066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90486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Real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7827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92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A6CFED8-DBA3-0427-6E34-13943F35BD2D}"/>
              </a:ext>
            </a:extLst>
          </p:cNvPr>
          <p:cNvSpPr txBox="1"/>
          <p:nvPr/>
        </p:nvSpPr>
        <p:spPr>
          <a:xfrm>
            <a:off x="363984" y="4585732"/>
            <a:ext cx="112432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Bidirectional LSTM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Accuracy : 86.26%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ROC AUC : 0.87</a:t>
            </a: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57DEC68-95E9-6982-E9F3-1A1BDE3B8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20174"/>
              </p:ext>
            </p:extLst>
          </p:nvPr>
        </p:nvGraphicFramePr>
        <p:xfrm>
          <a:off x="5132242" y="5008058"/>
          <a:ext cx="5991225" cy="1150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245">
                  <a:extLst>
                    <a:ext uri="{9D8B030D-6E8A-4147-A177-3AD203B41FA5}">
                      <a16:colId xmlns:a16="http://schemas.microsoft.com/office/drawing/2014/main" val="1824103824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181989826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1472622155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4032482017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481797693"/>
                    </a:ext>
                  </a:extLst>
                </a:gridCol>
              </a:tblGrid>
              <a:tr h="41888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819584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Fake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8066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90486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Real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7827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9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0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46626-F2F0-018D-C221-883DCF5A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FA867-5B5B-C547-64CF-77AED15A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Moment of Truth : Model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88545-0683-C4DF-3EB7-E59E8B8E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8</a:t>
            </a:fld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8CCCDC-380D-5C1C-E447-6BC76ECF0232}"/>
              </a:ext>
            </a:extLst>
          </p:cNvPr>
          <p:cNvSpPr txBox="1"/>
          <p:nvPr/>
        </p:nvSpPr>
        <p:spPr>
          <a:xfrm>
            <a:off x="452487" y="1168923"/>
            <a:ext cx="5643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04ADD49-4D0C-7C79-C87D-127178494693}"/>
              </a:ext>
            </a:extLst>
          </p:cNvPr>
          <p:cNvGraphicFramePr>
            <a:graphicFrameLocks noGrp="1"/>
          </p:cNvGraphicFramePr>
          <p:nvPr/>
        </p:nvGraphicFramePr>
        <p:xfrm>
          <a:off x="654370" y="4076045"/>
          <a:ext cx="4640537" cy="22731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5055">
                  <a:extLst>
                    <a:ext uri="{9D8B030D-6E8A-4147-A177-3AD203B41FA5}">
                      <a16:colId xmlns:a16="http://schemas.microsoft.com/office/drawing/2014/main" val="2499605227"/>
                    </a:ext>
                  </a:extLst>
                </a:gridCol>
                <a:gridCol w="1696696">
                  <a:extLst>
                    <a:ext uri="{9D8B030D-6E8A-4147-A177-3AD203B41FA5}">
                      <a16:colId xmlns:a16="http://schemas.microsoft.com/office/drawing/2014/main" val="3509453629"/>
                    </a:ext>
                  </a:extLst>
                </a:gridCol>
                <a:gridCol w="1998786">
                  <a:extLst>
                    <a:ext uri="{9D8B030D-6E8A-4147-A177-3AD203B41FA5}">
                      <a16:colId xmlns:a16="http://schemas.microsoft.com/office/drawing/2014/main" val="2234749009"/>
                    </a:ext>
                  </a:extLst>
                </a:gridCol>
              </a:tblGrid>
              <a:tr h="23068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Metric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B7DA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Observation (Green Line)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B7DA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Strategic Implication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B7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711743"/>
                  </a:ext>
                </a:extLst>
              </a:tr>
              <a:tr h="48895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Initial Precision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Achieves 100% Precision at low Recall.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Model can make high-confidence "Fake" predictions with virtually no False Positives (FP).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90030045"/>
                  </a:ext>
                </a:extLst>
              </a:tr>
              <a:tr h="4703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Performance Window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Precision remains &gt;0.50 up to Recall approx. 0.50.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Provides the best balance of catching fake news while maintaining reliability.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31601651"/>
                  </a:ext>
                </a:extLst>
              </a:tr>
              <a:tr h="10238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Conclusion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The Bidirectional LSTM model is the clear winner, demonstrating superior ability to learn the complex language patterns required for Fake News Detection.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2831923"/>
                  </a:ext>
                </a:extLst>
              </a:tr>
            </a:tbl>
          </a:graphicData>
        </a:graphic>
      </p:graphicFrame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1D0564C-2B45-C7E1-82CD-C223F646E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CC8CE5-94EE-132D-3172-123A52B25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6" y="866860"/>
            <a:ext cx="4741479" cy="3079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5487A8-8A83-02B9-1478-95D5AEC5C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726" y="2201091"/>
            <a:ext cx="6404367" cy="41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8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CBFBE-1FDC-D116-225A-73396A90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81F8-E40C-E069-3B56-FA190B60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User Interaction : Using </a:t>
            </a:r>
            <a:r>
              <a:rPr lang="en-US" dirty="0" err="1"/>
              <a:t>Streamlit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025C-024A-AEB5-FA8C-3E6B7BB8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9</a:t>
            </a:fld>
            <a:endParaRPr lang="en-SG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7B8EDD1-D645-B915-7B05-80A9B4BF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7CAB77-31A1-9E46-0935-71675A098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67" y="871453"/>
            <a:ext cx="7718205" cy="490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13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6DF3-1250-D6E6-F5C4-731EC241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7F47-EA31-AC9A-3926-DAEEE83F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EF030-DB33-B58D-FCE3-530231CE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10</a:t>
            </a:fld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724A7-41DE-F22D-787B-456C998B54AF}"/>
              </a:ext>
            </a:extLst>
          </p:cNvPr>
          <p:cNvSpPr txBox="1"/>
          <p:nvPr/>
        </p:nvSpPr>
        <p:spPr>
          <a:xfrm>
            <a:off x="363984" y="951722"/>
            <a:ext cx="1124329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Planned next steps include exploring transformer-based models (e.g., BERT, </a:t>
            </a:r>
            <a:r>
              <a:rPr lang="en-US" dirty="0" err="1"/>
              <a:t>DistilBERT</a:t>
            </a:r>
            <a:r>
              <a:rPr lang="en-US" dirty="0"/>
              <a:t>) to enhance detection accuracy and speed.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compare transformer models with Bi-LSTM using metrics such as accuracy, F1-score, inference time, and robustness on unseen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Intend to leverage transfer learning by fine-tuning pretrained transformer models on the fake news dataset for better contextual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 to experiment with ensemble approaches, combining predictions from LSTM, BERT, and classical models (e.g., Logistic Regression, </a:t>
            </a:r>
            <a:r>
              <a:rPr lang="en-US" dirty="0" err="1"/>
              <a:t>XGBoost</a:t>
            </a:r>
            <a:r>
              <a:rPr lang="en-US" dirty="0"/>
              <a:t>) using stacking or weighted averaging for improved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Aim to deploy the improved model in the existing </a:t>
            </a:r>
            <a:r>
              <a:rPr lang="en-US" dirty="0" err="1"/>
              <a:t>Streamlit</a:t>
            </a:r>
            <a:r>
              <a:rPr lang="en-US" dirty="0"/>
              <a:t> app, adding a BERT option and optimizing model size for real-time inference.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demonstrates the potential of advanced NLP and machine learning techniques in combating misinformation and sets the stage for future enhancements.</a:t>
            </a:r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51FCFBA-A263-4EAB-BD65-9B6EB498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1541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586D5-14C9-D8C4-8BD6-5AFBFFC3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6CA4-8F38-C43D-487B-8082E818D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Lessons Learned : The Journey taught 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9B262-7A62-162F-8707-A7CC01FA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11</a:t>
            </a:fld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13886-F86F-35DA-EACF-5520DE1EC926}"/>
              </a:ext>
            </a:extLst>
          </p:cNvPr>
          <p:cNvSpPr txBox="1"/>
          <p:nvPr/>
        </p:nvSpPr>
        <p:spPr>
          <a:xfrm>
            <a:off x="363984" y="951722"/>
            <a:ext cx="1124329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Production-Ready Fake News Detector</a:t>
            </a:r>
          </a:p>
          <a:p>
            <a:r>
              <a:rPr lang="en-US" dirty="0"/>
              <a:t>	</a:t>
            </a:r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Technical Lessons: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Start</a:t>
            </a:r>
            <a:r>
              <a:rPr lang="en-US" dirty="0"/>
              <a:t> </a:t>
            </a:r>
            <a:r>
              <a:rPr lang="en-US" b="1" dirty="0"/>
              <a:t>Simple</a:t>
            </a:r>
            <a:r>
              <a:rPr lang="en-US" dirty="0"/>
              <a:t>: Baseline models establish expectations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EDA</a:t>
            </a:r>
            <a:r>
              <a:rPr lang="en-US" dirty="0"/>
              <a:t> is </a:t>
            </a:r>
            <a:r>
              <a:rPr lang="en-US" b="1" dirty="0"/>
              <a:t>Gold</a:t>
            </a:r>
            <a:r>
              <a:rPr lang="en-US" dirty="0"/>
              <a:t>: Understanding data beats algorithms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Features</a:t>
            </a:r>
            <a:r>
              <a:rPr lang="en-US" dirty="0"/>
              <a:t> </a:t>
            </a:r>
            <a:r>
              <a:rPr lang="en-US" b="1" dirty="0"/>
              <a:t>Matter</a:t>
            </a:r>
            <a:r>
              <a:rPr lang="en-US" dirty="0"/>
              <a:t>: Good features &gt; complex models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Iterate</a:t>
            </a:r>
            <a:r>
              <a:rPr lang="en-US" dirty="0"/>
              <a:t> </a:t>
            </a:r>
            <a:r>
              <a:rPr lang="en-US" b="1" dirty="0"/>
              <a:t>Rapidly</a:t>
            </a:r>
            <a:r>
              <a:rPr lang="en-US" dirty="0"/>
              <a:t>: Try many approaches quickly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Validate</a:t>
            </a:r>
            <a:r>
              <a:rPr lang="en-US" dirty="0"/>
              <a:t> </a:t>
            </a:r>
            <a:r>
              <a:rPr lang="en-US" b="1" dirty="0"/>
              <a:t>Properly</a:t>
            </a:r>
            <a:r>
              <a:rPr lang="en-US" dirty="0"/>
              <a:t>: Train/test split prevents false confidence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Document</a:t>
            </a:r>
            <a:r>
              <a:rPr lang="en-US" dirty="0"/>
              <a:t> </a:t>
            </a:r>
            <a:r>
              <a:rPr lang="en-US" b="1" dirty="0"/>
              <a:t>Everything</a:t>
            </a:r>
            <a:r>
              <a:rPr lang="en-US" dirty="0"/>
              <a:t>: Future you will thank present you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80% time on data, 20% on models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No single model is always best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Accuracy vs speed vs interpretability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Understanding fake news helped us engineer features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Each experiment added value</a:t>
            </a:r>
          </a:p>
          <a:p>
            <a:pPr marL="742950" lvl="1" indent="-285750">
              <a:buFontTx/>
              <a:buChar char="-"/>
            </a:pPr>
            <a:endParaRPr lang="en-IN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821E760-299D-AB20-642A-3192B973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5526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B2D0-98F9-7462-DA56-27D33012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9DEE-2E31-0BA1-A73B-A523049F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 you for Following our Journey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CFDFC-6C15-A57D-4716-B0CD6B77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12</a:t>
            </a:fld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D7E3D0-466E-4165-B209-451910978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240" y="2367870"/>
            <a:ext cx="3383889" cy="1968808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0E734C9-EFFA-77C8-F3D2-E06F14A6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E285F-69C8-47C3-AF42-E3AD95584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914" y="2213572"/>
            <a:ext cx="4632156" cy="227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3255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a53e6c-53f2-4709-838c-32a07fa7348c" xsi:nil="true"/>
    <lcf76f155ced4ddcb4097134ff3c332f xmlns="9942508b-7edd-4522-9099-5c8ba2e58c2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F4A66993F69444994DEDC68916C527" ma:contentTypeVersion="11" ma:contentTypeDescription="Create a new document." ma:contentTypeScope="" ma:versionID="6d8c83a6efd5471423dade757e33b483">
  <xsd:schema xmlns:xsd="http://www.w3.org/2001/XMLSchema" xmlns:xs="http://www.w3.org/2001/XMLSchema" xmlns:p="http://schemas.microsoft.com/office/2006/metadata/properties" xmlns:ns2="9942508b-7edd-4522-9099-5c8ba2e58c2d" xmlns:ns3="61a53e6c-53f2-4709-838c-32a07fa7348c" targetNamespace="http://schemas.microsoft.com/office/2006/metadata/properties" ma:root="true" ma:fieldsID="d068a04341d57602b07eae7b1ca693d1" ns2:_="" ns3:_="">
    <xsd:import namespace="9942508b-7edd-4522-9099-5c8ba2e58c2d"/>
    <xsd:import namespace="61a53e6c-53f2-4709-838c-32a07fa734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2508b-7edd-4522-9099-5c8ba2e58c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eae8b99-2390-486d-8259-3a0fa51204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a53e6c-53f2-4709-838c-32a07fa7348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216e331-96ca-4cab-bbd1-11c69f7e2d61}" ma:internalName="TaxCatchAll" ma:showField="CatchAllData" ma:web="61a53e6c-53f2-4709-838c-32a07fa734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1A3A37-9007-4EC4-8746-B27BB5C6B1BE}">
  <ds:schemaRefs>
    <ds:schemaRef ds:uri="61a53e6c-53f2-4709-838c-32a07fa7348c"/>
    <ds:schemaRef ds:uri="9942508b-7edd-4522-9099-5c8ba2e58c2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374323E-7AF1-410A-ADFC-B6F59135825E}">
  <ds:schemaRefs>
    <ds:schemaRef ds:uri="61a53e6c-53f2-4709-838c-32a07fa7348c"/>
    <ds:schemaRef ds:uri="9942508b-7edd-4522-9099-5c8ba2e58c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CA2CD0-1824-491F-9AFA-03C38DCE29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1977</TotalTime>
  <Words>2403</Words>
  <Application>Microsoft Office PowerPoint</Application>
  <PresentationFormat>Widescreen</PresentationFormat>
  <Paragraphs>363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Microsoft YaHei</vt:lpstr>
      <vt:lpstr>Arial</vt:lpstr>
      <vt:lpstr>Arial Nova</vt:lpstr>
      <vt:lpstr>Calibri</vt:lpstr>
      <vt:lpstr>Consolas</vt:lpstr>
      <vt:lpstr>Graphik Light</vt:lpstr>
      <vt:lpstr>Graphik Regular</vt:lpstr>
      <vt:lpstr>Symbol</vt:lpstr>
      <vt:lpstr>1_Retrospect</vt:lpstr>
      <vt:lpstr>DA 204o: Data Science in Practice Course Project  Real Time Fake News Prediction</vt:lpstr>
      <vt:lpstr>Journey Begins : Collecting and Understanding the Data</vt:lpstr>
      <vt:lpstr>Detective Work : EDA Begins</vt:lpstr>
      <vt:lpstr>The Language Clue : Word Clouds and Frequency</vt:lpstr>
      <vt:lpstr>The Emotion Factor : Sentiment Analysis</vt:lpstr>
      <vt:lpstr>Getting Ready : Building Intelligence</vt:lpstr>
      <vt:lpstr>First Attempt : Using Logistic Regression</vt:lpstr>
      <vt:lpstr>The Moment of Truth : Model Comparison</vt:lpstr>
      <vt:lpstr>Final User Interaction : Using Streamlit</vt:lpstr>
      <vt:lpstr>Future Actions</vt:lpstr>
      <vt:lpstr>Lessons Learned : The Journey taught us</vt:lpstr>
      <vt:lpstr>Thank you for Following our Journey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 204o: Data Science in Practice Course Project Proposal  Real Time Fake News Prediction</dc:title>
  <dc:creator>Pandarasamy Arjunan</dc:creator>
  <cp:lastModifiedBy>Mayank Teckchandani</cp:lastModifiedBy>
  <cp:revision>27</cp:revision>
  <dcterms:created xsi:type="dcterms:W3CDTF">2023-08-01T07:21:01Z</dcterms:created>
  <dcterms:modified xsi:type="dcterms:W3CDTF">2025-12-02T13:26:06Z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0x0101000CF4A66993F69444994DEDC68916C527</vt:lpwstr>
  </property>
  <property fmtid="{D5CDD505-2E9C-101B-9397-08002B2CF9AE}" pid="3" name="MediaServiceImageTags">
    <vt:lpwstr/>
  </property>
</Properties>
</file>